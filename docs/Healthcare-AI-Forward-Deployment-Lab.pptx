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Consolas" panose="020B0609020204030204" pitchFamily="49" charset="0"/>
      <p:regular r:id="rId18"/>
      <p:bold r:id="rId19"/>
      <p:italic r:id="rId20"/>
      <p:boldItalic r:id="rId21"/>
    </p:embeddedFont>
    <p:embeddedFont>
      <p:font typeface="Instrument Sans Bold" panose="020B0604020202020204" charset="0"/>
      <p:regular r:id="rId22"/>
    </p:embeddedFont>
    <p:embeddedFont>
      <p:font typeface="Instrument Sans Medium" panose="020B0604020202020204" charset="0"/>
      <p:regular r:id="rId23"/>
    </p:embeddedFont>
    <p:embeddedFont>
      <p:font typeface="Instrument Sans SemiBold" panose="020B0604020202020204" charset="0"/>
      <p:regular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18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11361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I will introduce my Healthcare AI Forward Deployment Lab, a Phase 1 portfolio prototype for prior authorization workflow support. Prior authorization is an administrative process where a request and its supporting information are checked before a coverage review. The purpose here is to help with repetitive checks, not to make medical decisions. The system uses fixed rules first, asks for human review when something is unresolved, and records important workflow events. It uses synthetic healthcare data only. I will show what actually worked in a local demonstration, and I will separate that evidence from AI capabilities tested offline and features planned for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Imagine a healthcare provider requests an MRI scan for someone with lower back pain. Before the case moves forward, staff may need to check whether required information is present and whether the request agrees with its supporting evidence. Those routine checks can take time and are easy to repeat inconsistently. The people who would use this support are prior authorization operations staff and reviewers. My prototype aims to automate the predictable checks and send unresolved cases to a person. The intended benefit is more time for cases that really need human judgment. I have not measured time savings or clinical outcomes, so I present this as a goal, not a proven result. </a:t>
            </a: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Forward Deployment Engineer needs to start with the business problem, not the technology. I first identify who uses the workflow, what they need, and which questions are still unanswered. Those needs become business requirements, functional requirements, and technical requirements. In this project, 28 functional requirements are documented. Traceability means being able to follow a requirement toward its implementation, relevant tests, and planned audit evidence. Importantly, that does not mean every requirement has already been implemented or validated. Tracking 'working now' separately from 'planned' keeps both the technical work and the stakeholder conversation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architecture has four main parts. </a:t>
            </a:r>
            <a:r>
              <a:rPr lang="en-US" sz="1200" b="0" i="0" kern="1200" dirty="0" err="1">
                <a:solidFill>
                  <a:schemeClr val="tx1"/>
                </a:solidFill>
                <a:effectLst/>
                <a:latin typeface="+mn-lt"/>
                <a:ea typeface="+mn-ea"/>
                <a:cs typeface="+mn-cs"/>
              </a:rPr>
              <a:t>Streamlit</a:t>
            </a:r>
            <a:r>
              <a:rPr lang="en-US" sz="1200" b="0" i="0" kern="1200" dirty="0">
                <a:solidFill>
                  <a:schemeClr val="tx1"/>
                </a:solidFill>
                <a:effectLst/>
                <a:latin typeface="+mn-lt"/>
                <a:ea typeface="+mn-ea"/>
                <a:cs typeface="+mn-cs"/>
              </a:rPr>
              <a:t> is the screen where a staff member submits a synthetic request and reviews results. </a:t>
            </a:r>
            <a:r>
              <a:rPr lang="en-US" sz="1200" b="0" i="0" kern="1200" dirty="0" err="1">
                <a:solidFill>
                  <a:schemeClr val="tx1"/>
                </a:solidFill>
                <a:effectLst/>
                <a:latin typeface="+mn-lt"/>
                <a:ea typeface="+mn-ea"/>
                <a:cs typeface="+mn-cs"/>
              </a:rPr>
              <a:t>FastAPI</a:t>
            </a:r>
            <a:r>
              <a:rPr lang="en-US" sz="1200" b="0" i="0" kern="1200" dirty="0">
                <a:solidFill>
                  <a:schemeClr val="tx1"/>
                </a:solidFill>
                <a:effectLst/>
                <a:latin typeface="+mn-lt"/>
                <a:ea typeface="+mn-ea"/>
                <a:cs typeface="+mn-cs"/>
              </a:rPr>
              <a:t> is the application's request-handling layer; the screen communicates with it through a REST API using JSON, which is a common text format for data. Within the backend,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and Python organize the workflow steps and apply the rules. SQL Server stores case information, reviews, workflow states, and audit events. </a:t>
            </a:r>
            <a:r>
              <a:rPr lang="en-US" sz="1200" b="0" i="0" kern="1200" dirty="0" err="1">
                <a:solidFill>
                  <a:schemeClr val="tx1"/>
                </a:solidFill>
                <a:effectLst/>
                <a:latin typeface="+mn-lt"/>
                <a:ea typeface="+mn-ea"/>
                <a:cs typeface="+mn-cs"/>
              </a:rPr>
              <a:t>Pydantic</a:t>
            </a:r>
            <a:r>
              <a:rPr lang="en-US" sz="1200" b="0" i="0" kern="1200" dirty="0">
                <a:solidFill>
                  <a:schemeClr val="tx1"/>
                </a:solidFill>
                <a:effectLst/>
                <a:latin typeface="+mn-lt"/>
                <a:ea typeface="+mn-ea"/>
                <a:cs typeface="+mn-cs"/>
              </a:rPr>
              <a:t> checks that incoming data has the expected structure. The healthcare evidence follows a synthetic FHIR-style format; it is not a connection to a real healthcare system. Azure OpenAI is optional language assistance and was not called during the local demonstration.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main design choice is 'rules first.' A deterministic rule means that the same verified input leads to the same defined result. For example, the system checks required fields and compares the diagnosis code in a request against its supporting healthcare evidence. If those facts disagree and the mismatch remains unresolved, there is no reason to ask AI to guess which one is correct. The system routes the case to Human Review instead. This screen comes from the actual local workflow validation and shows HUMAN_REVIEW_REQUIRED. That route was reached without a live AI call. The reviewer handles the next administrative step, not an automated clinical approval or denial.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AI has a limited role in this design. It can support language-related tasks, such as summarizing text, identifying unclear wording, or suggesting a question for a reviewer. Those behaviors were tested offline; the local workflow demonstration did not make a live AI call. Important workflow decisions stay with a person. The Human Review interface supports four process actions: continue processing, request more information, escalate, or close the case. These are administrative workflow actions, not controls for approving or denying medical care. The real screenshot shows the review form with the dropdown collapsed, so the picture alone does not display all four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follows one real local workflow example. The system found a mismatch and routed the case to Human Review. A reviewer recorded an action to continue, which left the workflow in PENDING_RESUME. When Resume was triggered, the application reused the SAME trace ID and ran the appropriate checks again. Because the underlying evidence mismatch was still unresolved, the workflow returned to HUMAN_REVIEW_REQUIRED. This is application-level re-invocation, not restoration from a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checkpoint. That difference matters: continuing a workflow must not silently treat an unresolved problem as solved. These two screenshots show the before-and-after states of that specific local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Traceability means being able to explain what happened to a case and why. The </a:t>
            </a:r>
            <a:r>
              <a:rPr lang="en-US" sz="1200" b="0" i="0" kern="1200" dirty="0" err="1">
                <a:solidFill>
                  <a:schemeClr val="tx1"/>
                </a:solidFill>
                <a:effectLst/>
                <a:latin typeface="+mn-lt"/>
                <a:ea typeface="+mn-ea"/>
                <a:cs typeface="+mn-cs"/>
              </a:rPr>
              <a:t>case_id</a:t>
            </a:r>
            <a:r>
              <a:rPr lang="en-US" sz="1200" b="0" i="0" kern="1200" dirty="0">
                <a:solidFill>
                  <a:schemeClr val="tx1"/>
                </a:solidFill>
                <a:effectLst/>
                <a:latin typeface="+mn-lt"/>
                <a:ea typeface="+mn-ea"/>
                <a:cs typeface="+mn-cs"/>
              </a:rPr>
              <a:t> identifies the authorization case; the </a:t>
            </a:r>
            <a:r>
              <a:rPr lang="en-US" sz="1200" b="0" i="0" kern="1200" dirty="0" err="1">
                <a:solidFill>
                  <a:schemeClr val="tx1"/>
                </a:solidFill>
                <a:effectLst/>
                <a:latin typeface="+mn-lt"/>
                <a:ea typeface="+mn-ea"/>
                <a:cs typeface="+mn-cs"/>
              </a:rPr>
              <a:t>trace_id</a:t>
            </a:r>
            <a:r>
              <a:rPr lang="en-US" sz="1200" b="0" i="0" kern="1200" dirty="0">
                <a:solidFill>
                  <a:schemeClr val="tx1"/>
                </a:solidFill>
                <a:effectLst/>
                <a:latin typeface="+mn-lt"/>
                <a:ea typeface="+mn-ea"/>
                <a:cs typeface="+mn-cs"/>
              </a:rPr>
              <a:t> identifies a particular workflow run associated with that case. A case can have more than one run, while a run can have several events and Human Review records. The application view displays important workflow events, such as starting the workflow, checking evidence, requesting human review, and resuming. The application inserts audit records for these events, but database-enforced immutability has not been independently verified. Also, this screenshot alone does not prove that a particular HTTP refresh request succeeded. It shows the application's audit information, not every possible system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 checked the database directly rather than relying only on the application's screen. The SQL Server results show a workflow-run record, two Human Review records, and nine recorded audit events for the same trace ID. One review was completed with CONTINUE_WORKFLOW; a later review was requested again after revalidation. This supports the claim that the workflow state, review information, and important events were actually saved in the local database. It is a different kind of evidence from a user-interface screenshot. However, a SQL query cannot by itself prove that a specific HTTP refresh request succeeded, and this was not a production database or production-security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two separate kinds of evidence on this slide. First, an earlier automated test baseline reported 650 passed, four skipped, and zero failed. This baseline was not rerun just for the presentation, and the individual reasons for the four skipped tests still need to be checked in the original test report. Automated tests tell us how the software behaves in the scenarios covered by those tests; they cannot prove every possible case is correct. Second, Task 26D was a real LOCAL end-to-end validation through </a:t>
            </a:r>
            <a:r>
              <a:rPr lang="en-US" sz="1200" b="0" i="0" kern="1200" dirty="0" err="1">
                <a:solidFill>
                  <a:schemeClr val="tx1"/>
                </a:solidFill>
                <a:effectLst/>
                <a:latin typeface="+mn-lt"/>
                <a:ea typeface="+mn-ea"/>
                <a:cs typeface="+mn-cs"/>
              </a:rPr>
              <a:t>Streamlit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FastAPI</a:t>
            </a:r>
            <a:r>
              <a:rPr lang="en-US" sz="1200" b="0" i="0" kern="1200" dirty="0">
                <a:solidFill>
                  <a:schemeClr val="tx1"/>
                </a:solidFill>
                <a:effectLst/>
                <a:latin typeface="+mn-lt"/>
                <a:ea typeface="+mn-ea"/>
                <a:cs typeface="+mn-cs"/>
              </a:rPr>
              <a:t>, and SQL Server using synthetic evidence. It demonstrated one complete workflow path. It did not test a live AI call, production FHIR integration, or production authentication.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a working Phase 1 prototype, not a hospital-ready product. Today it supports defined deterministic checks, Human Review workflow actions, same-trace application-level Resume, and persistence of cases, runs, reviews, and important audit events in SQL Server. It does not claim to record every possible action in a complete or database-immutable audit trail. The production roadmap still includes authentication, managed secrets, real FHIR and payer integrations, wider security-policy enforcement, retry controls, deployment automation, and monitoring. Separating implemented capabilities from future work is part of the engineering deliverable. The objective is a clear path to production, not an autonomous clinical decision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one small routing function from the actual workflow source, with type information and the docstring omitted for slide space. A function is a reusable piece of Python code. Here, state holds information shared between workflow steps. The function reads the </a:t>
            </a:r>
            <a:r>
              <a:rPr lang="en-US" sz="1200" b="0" i="0" kern="1200" dirty="0" err="1">
                <a:solidFill>
                  <a:schemeClr val="tx1"/>
                </a:solidFill>
                <a:effectLst/>
                <a:latin typeface="+mn-lt"/>
                <a:ea typeface="+mn-ea"/>
                <a:cs typeface="+mn-cs"/>
              </a:rPr>
              <a:t>evidence_consistency_result</a:t>
            </a:r>
            <a:r>
              <a:rPr lang="en-US" sz="1200" b="0" i="0" kern="1200" dirty="0">
                <a:solidFill>
                  <a:schemeClr val="tx1"/>
                </a:solidFill>
                <a:effectLst/>
                <a:latin typeface="+mn-lt"/>
                <a:ea typeface="+mn-ea"/>
                <a:cs typeface="+mn-cs"/>
              </a:rPr>
              <a:t> produced by an earlier check. If a result exists and the evidence is consistent, it returns the label </a:t>
            </a:r>
            <a:r>
              <a:rPr lang="en-US" sz="1200" b="0" i="0" kern="1200" dirty="0" err="1">
                <a:solidFill>
                  <a:schemeClr val="tx1"/>
                </a:solidFill>
                <a:effectLst/>
                <a:latin typeface="+mn-lt"/>
                <a:ea typeface="+mn-ea"/>
                <a:cs typeface="+mn-cs"/>
              </a:rPr>
              <a:t>evaluate_completeness</a:t>
            </a:r>
            <a:r>
              <a:rPr lang="en-US" sz="1200" b="0" i="0" kern="1200" dirty="0">
                <a:solidFill>
                  <a:schemeClr val="tx1"/>
                </a:solidFill>
                <a:effectLst/>
                <a:latin typeface="+mn-lt"/>
                <a:ea typeface="+mn-ea"/>
                <a:cs typeface="+mn-cs"/>
              </a:rPr>
              <a:t>. Otherwise it returns </a:t>
            </a:r>
            <a:r>
              <a:rPr lang="en-US" sz="1200" b="0" i="0" kern="1200" dirty="0" err="1">
                <a:solidFill>
                  <a:schemeClr val="tx1"/>
                </a:solidFill>
                <a:effectLst/>
                <a:latin typeface="+mn-lt"/>
                <a:ea typeface="+mn-ea"/>
                <a:cs typeface="+mn-cs"/>
              </a:rPr>
              <a:t>human_review_required</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LangGraph</a:t>
            </a:r>
            <a:r>
              <a:rPr lang="en-US" sz="1200" b="0" i="0" kern="1200" dirty="0">
                <a:solidFill>
                  <a:schemeClr val="tx1"/>
                </a:solidFill>
                <a:effectLst/>
                <a:latin typeface="+mn-lt"/>
                <a:ea typeface="+mn-ea"/>
                <a:cs typeface="+mn-cs"/>
              </a:rPr>
              <a:t> uses that label to choose the next workflow node. The routing function does not make the evidence comparison itself, does not execute the destination node, and does not call AI. It is one of several routing decisions in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Think of these as four connected record books. The </a:t>
            </a:r>
            <a:r>
              <a:rPr lang="en-US" sz="1200" b="0" i="0" kern="1200" dirty="0" err="1">
                <a:solidFill>
                  <a:schemeClr val="tx1"/>
                </a:solidFill>
                <a:effectLst/>
                <a:latin typeface="+mn-lt"/>
                <a:ea typeface="+mn-ea"/>
                <a:cs typeface="+mn-cs"/>
              </a:rPr>
              <a:t>prior_authorization_cases</a:t>
            </a:r>
            <a:r>
              <a:rPr lang="en-US" sz="1200" b="0" i="0" kern="1200" dirty="0">
                <a:solidFill>
                  <a:schemeClr val="tx1"/>
                </a:solidFill>
                <a:effectLst/>
                <a:latin typeface="+mn-lt"/>
                <a:ea typeface="+mn-ea"/>
                <a:cs typeface="+mn-cs"/>
              </a:rPr>
              <a:t> table identifies the original request using </a:t>
            </a:r>
            <a:r>
              <a:rPr lang="en-US" sz="1200" b="0" i="0" kern="1200" dirty="0" err="1">
                <a:solidFill>
                  <a:schemeClr val="tx1"/>
                </a:solidFill>
                <a:effectLst/>
                <a:latin typeface="+mn-lt"/>
                <a:ea typeface="+mn-ea"/>
                <a:cs typeface="+mn-cs"/>
              </a:rPr>
              <a:t>case_id</a:t>
            </a:r>
            <a:r>
              <a:rPr lang="en-US" sz="1200" b="0" i="0" kern="1200" dirty="0">
                <a:solidFill>
                  <a:schemeClr val="tx1"/>
                </a:solidFill>
                <a:effectLst/>
                <a:latin typeface="+mn-lt"/>
                <a:ea typeface="+mn-ea"/>
                <a:cs typeface="+mn-cs"/>
              </a:rPr>
              <a:t>. The </a:t>
            </a:r>
            <a:r>
              <a:rPr lang="en-US" sz="1200" b="0" i="0" kern="1200" dirty="0" err="1">
                <a:solidFill>
                  <a:schemeClr val="tx1"/>
                </a:solidFill>
                <a:effectLst/>
                <a:latin typeface="+mn-lt"/>
                <a:ea typeface="+mn-ea"/>
                <a:cs typeface="+mn-cs"/>
              </a:rPr>
              <a:t>workflow_runs</a:t>
            </a:r>
            <a:r>
              <a:rPr lang="en-US" sz="1200" b="0" i="0" kern="1200" dirty="0">
                <a:solidFill>
                  <a:schemeClr val="tx1"/>
                </a:solidFill>
                <a:effectLst/>
                <a:latin typeface="+mn-lt"/>
                <a:ea typeface="+mn-ea"/>
                <a:cs typeface="+mn-cs"/>
              </a:rPr>
              <a:t> table connects a run to its case and identifies the run using </a:t>
            </a:r>
            <a:r>
              <a:rPr lang="en-US" sz="1200" b="0" i="0" kern="1200" dirty="0" err="1">
                <a:solidFill>
                  <a:schemeClr val="tx1"/>
                </a:solidFill>
                <a:effectLst/>
                <a:latin typeface="+mn-lt"/>
                <a:ea typeface="+mn-ea"/>
                <a:cs typeface="+mn-cs"/>
              </a:rPr>
              <a:t>trace_id</a:t>
            </a:r>
            <a:r>
              <a:rPr lang="en-US" sz="1200" b="0" i="0" kern="1200" dirty="0">
                <a:solidFill>
                  <a:schemeClr val="tx1"/>
                </a:solidFill>
                <a:effectLst/>
                <a:latin typeface="+mn-lt"/>
                <a:ea typeface="+mn-ea"/>
                <a:cs typeface="+mn-cs"/>
              </a:rPr>
              <a:t>. Audit events and Human Review records are associated with that run. A single case may have multiple runs, and one trace may contain multiple review records. In the demonstrated Resume, the application kept the same trace ID while rechecking the evidence. This is a simplified conceptual diagram to explain the identifiers, not a complete physical database relationship diagram. Audit rows are inserted by the application; database-enforced immutability has not been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reliable workflow needs safe behavior when something goes wrong. In the offline tests, three specific failure patterns route to Human Review: an AI response that cannot be validated, an AI provider failure or timeout, and a healthcare evidence lookup failure. This is not a claim that every error follows the same route. Some failures may require a different escalation or may prevent a safe workflow state from being established. Broader security-policy enforcement and configured automatic retry controls remain design or roadmap items, not completed Phase 1 features. No real AI provider call was part of the local validation shown earlier. This slide is about tested boundaries and clearly labeled remaining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want to be transparent about how I developed this portfolio project. I set the architecture direction, deterministic-first principle, human-review boundary, requirements, and final approval criteria. I worked with ChatGPT as a design and review partner to refine requirements, examine tradeoffs, plan tasks, and review technical results. I used Claude Code as an implementation partner for focused coding, tests, debugging, documentation, and approved Git operations. These were iterative collaborations under human oversight; the AI tools did not independently own the architecture or approve the work. </a:t>
            </a:r>
            <a:r>
              <a:rPr lang="en-US" sz="1200" b="0" i="0" kern="1200">
                <a:solidFill>
                  <a:schemeClr val="tx1"/>
                </a:solidFill>
                <a:effectLst/>
                <a:latin typeface="+mn-lt"/>
                <a:ea typeface="+mn-ea"/>
                <a:cs typeface="+mn-cs"/>
              </a:rPr>
              <a:t>The result demonstrates both hands-on technical delivery and the judgment needed to keep AI-assisted engineering explainable, testable, and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 Id="rId9"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svg"/></Relationships>
</file>

<file path=ppt/slides/_rels/slide1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25" y="540408"/>
            <a:ext cx="10868745" cy="590649"/>
          </a:xfrm>
          <a:prstGeom prst="rect">
            <a:avLst/>
          </a:prstGeom>
          <a:noFill/>
          <a:ln/>
        </p:spPr>
        <p:txBody>
          <a:bodyPr wrap="none" lIns="0" tIns="0" rIns="0" bIns="0" rtlCol="0" anchor="t"/>
          <a:lstStyle/>
          <a:p>
            <a:pPr marL="0" indent="0" algn="ctr">
              <a:lnSpc>
                <a:spcPct val="104000"/>
              </a:lnSpc>
              <a:buNone/>
            </a:pPr>
            <a:r>
              <a:rPr lang="en-US" sz="3700" dirty="0">
                <a:solidFill>
                  <a:srgbClr val="505468"/>
                </a:solidFill>
                <a:latin typeface="Instrument Sans SemiBold" pitchFamily="34" charset="0"/>
                <a:ea typeface="Instrument Sans SemiBold" pitchFamily="34" charset="-122"/>
                <a:cs typeface="Instrument Sans SemiBold" pitchFamily="34" charset="-120"/>
              </a:rPr>
              <a:t>Healthcare AI Forward Deployment Lab</a:t>
            </a:r>
            <a:endParaRPr lang="en-US" sz="3700" dirty="0"/>
          </a:p>
        </p:txBody>
      </p:sp>
      <p:sp>
        <p:nvSpPr>
          <p:cNvPr id="3" name="Text 1"/>
          <p:cNvSpPr/>
          <p:nvPr/>
        </p:nvSpPr>
        <p:spPr>
          <a:xfrm>
            <a:off x="661475" y="1199056"/>
            <a:ext cx="10868745" cy="354409"/>
          </a:xfrm>
          <a:prstGeom prst="rect">
            <a:avLst/>
          </a:prstGeom>
          <a:noFill/>
          <a:ln/>
        </p:spPr>
        <p:txBody>
          <a:bodyPr wrap="none" lIns="0" tIns="0" rIns="0" bIns="0" rtlCol="0" anchor="t"/>
          <a:lstStyle/>
          <a:p>
            <a:pPr marL="0" indent="0" algn="ctr">
              <a:lnSpc>
                <a:spcPct val="104000"/>
              </a:lnSpc>
              <a:buNone/>
            </a:pPr>
            <a:r>
              <a:rPr lang="en-US" sz="2200" dirty="0">
                <a:solidFill>
                  <a:srgbClr val="505468"/>
                </a:solidFill>
                <a:latin typeface="Instrument Sans SemiBold" pitchFamily="34" charset="0"/>
                <a:ea typeface="Instrument Sans SemiBold" pitchFamily="34" charset="-122"/>
                <a:cs typeface="Instrument Sans SemiBold" pitchFamily="34" charset="-120"/>
              </a:rPr>
              <a:t>Prior Authorization Workflow Support — Phase 1 Portfolio Prototype</a:t>
            </a:r>
            <a:endParaRPr lang="en-US" sz="2200" dirty="0"/>
          </a:p>
        </p:txBody>
      </p:sp>
      <p:sp>
        <p:nvSpPr>
          <p:cNvPr id="4" name="Text 2"/>
          <p:cNvSpPr/>
          <p:nvPr/>
        </p:nvSpPr>
        <p:spPr>
          <a:xfrm>
            <a:off x="661475" y="1823938"/>
            <a:ext cx="10868745" cy="696416"/>
          </a:xfrm>
          <a:prstGeom prst="rect">
            <a:avLst/>
          </a:prstGeom>
          <a:noFill/>
          <a:ln/>
        </p:spPr>
        <p:txBody>
          <a:bodyPr wrap="square" lIns="0" tIns="0" rIns="0" bIns="0" rtlCol="0" anchor="t"/>
          <a:lstStyle/>
          <a:p>
            <a:pPr marL="0" indent="0" algn="ctr">
              <a:lnSpc>
                <a:spcPct val="133000"/>
              </a:lnSpc>
              <a:spcAft>
                <a:spcPts val="1650"/>
              </a:spcAft>
              <a:buNone/>
            </a:pPr>
            <a:r>
              <a:rPr lang="en-US" sz="1150" dirty="0">
                <a:solidFill>
                  <a:srgbClr val="5B5F71"/>
                </a:solidFill>
                <a:latin typeface="Instrument Sans Medium" pitchFamily="34" charset="0"/>
                <a:ea typeface="Instrument Sans Medium" pitchFamily="34" charset="-122"/>
                <a:cs typeface="Instrument Sans Medium" pitchFamily="34" charset="-120"/>
              </a:rPr>
              <a:t>Project Owner &amp; Solution Designer - K. Kashiwagi</a:t>
            </a:r>
            <a:endParaRPr lang="en-US" sz="1150" dirty="0"/>
          </a:p>
        </p:txBody>
      </p:sp>
      <p:sp>
        <p:nvSpPr>
          <p:cNvPr id="5" name="Shape 3"/>
          <p:cNvSpPr/>
          <p:nvPr/>
        </p:nvSpPr>
        <p:spPr>
          <a:xfrm>
            <a:off x="661475" y="2874665"/>
            <a:ext cx="10868745" cy="25400"/>
          </a:xfrm>
          <a:prstGeom prst="roundRect">
            <a:avLst>
              <a:gd name="adj" fmla="val 49999"/>
            </a:avLst>
          </a:prstGeom>
          <a:solidFill>
            <a:srgbClr val="C8C9CF"/>
          </a:solidFill>
          <a:ln/>
        </p:spPr>
        <p:txBody>
          <a:bodyPr/>
          <a:lstStyle/>
          <a:p>
            <a:endParaRPr lang="en-US"/>
          </a:p>
        </p:txBody>
      </p:sp>
      <p:sp>
        <p:nvSpPr>
          <p:cNvPr id="6" name="Shape 4"/>
          <p:cNvSpPr/>
          <p:nvPr/>
        </p:nvSpPr>
        <p:spPr>
          <a:xfrm>
            <a:off x="1641136" y="2874665"/>
            <a:ext cx="25399" cy="378023"/>
          </a:xfrm>
          <a:prstGeom prst="roundRect">
            <a:avLst>
              <a:gd name="adj" fmla="val 50001"/>
            </a:avLst>
          </a:prstGeom>
          <a:solidFill>
            <a:srgbClr val="C8C9CF"/>
          </a:solidFill>
          <a:ln/>
        </p:spPr>
        <p:txBody>
          <a:bodyPr/>
          <a:lstStyle/>
          <a:p>
            <a:endParaRPr lang="en-US"/>
          </a:p>
        </p:txBody>
      </p:sp>
      <p:sp>
        <p:nvSpPr>
          <p:cNvPr id="7" name="Shape 5"/>
          <p:cNvSpPr/>
          <p:nvPr/>
        </p:nvSpPr>
        <p:spPr>
          <a:xfrm>
            <a:off x="1582996" y="2803823"/>
            <a:ext cx="141681" cy="141684"/>
          </a:xfrm>
          <a:prstGeom prst="ellipse">
            <a:avLst/>
          </a:prstGeom>
          <a:solidFill>
            <a:srgbClr val="5B5F72"/>
          </a:solidFill>
          <a:ln/>
        </p:spPr>
        <p:txBody>
          <a:bodyPr/>
          <a:lstStyle/>
          <a:p>
            <a:endParaRPr lang="en-US"/>
          </a:p>
        </p:txBody>
      </p:sp>
      <p:sp>
        <p:nvSpPr>
          <p:cNvPr id="8" name="Text 6"/>
          <p:cNvSpPr/>
          <p:nvPr/>
        </p:nvSpPr>
        <p:spPr>
          <a:xfrm>
            <a:off x="850482" y="3441799"/>
            <a:ext cx="1606708" cy="1209675"/>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Checks requests using </a:t>
            </a:r>
            <a:r>
              <a:rPr lang="en-US" sz="1450" b="1" dirty="0">
                <a:solidFill>
                  <a:srgbClr val="5B5F71"/>
                </a:solidFill>
                <a:latin typeface="Instrument Sans Bold" pitchFamily="34" charset="0"/>
                <a:ea typeface="Instrument Sans Bold" pitchFamily="34" charset="-122"/>
                <a:cs typeface="Instrument Sans Bold" pitchFamily="34" charset="-120"/>
              </a:rPr>
              <a:t>deterministic rules first</a:t>
            </a:r>
            <a:endParaRPr lang="en-US" sz="1450" dirty="0"/>
          </a:p>
        </p:txBody>
      </p:sp>
      <p:sp>
        <p:nvSpPr>
          <p:cNvPr id="9" name="Shape 7"/>
          <p:cNvSpPr/>
          <p:nvPr/>
        </p:nvSpPr>
        <p:spPr>
          <a:xfrm>
            <a:off x="3862092" y="2874665"/>
            <a:ext cx="25399" cy="378023"/>
          </a:xfrm>
          <a:prstGeom prst="roundRect">
            <a:avLst>
              <a:gd name="adj" fmla="val 50001"/>
            </a:avLst>
          </a:prstGeom>
          <a:solidFill>
            <a:srgbClr val="C8C9CF"/>
          </a:solidFill>
          <a:ln/>
        </p:spPr>
        <p:txBody>
          <a:bodyPr/>
          <a:lstStyle/>
          <a:p>
            <a:endParaRPr lang="en-US"/>
          </a:p>
        </p:txBody>
      </p:sp>
      <p:sp>
        <p:nvSpPr>
          <p:cNvPr id="10" name="Shape 8"/>
          <p:cNvSpPr/>
          <p:nvPr/>
        </p:nvSpPr>
        <p:spPr>
          <a:xfrm>
            <a:off x="3803952" y="2803823"/>
            <a:ext cx="141681" cy="141684"/>
          </a:xfrm>
          <a:prstGeom prst="ellipse">
            <a:avLst/>
          </a:prstGeom>
          <a:solidFill>
            <a:srgbClr val="5B5F72"/>
          </a:solidFill>
          <a:ln/>
        </p:spPr>
        <p:txBody>
          <a:bodyPr/>
          <a:lstStyle/>
          <a:p>
            <a:endParaRPr lang="en-US"/>
          </a:p>
        </p:txBody>
      </p:sp>
      <p:sp>
        <p:nvSpPr>
          <p:cNvPr id="11" name="Text 9"/>
          <p:cNvSpPr/>
          <p:nvPr/>
        </p:nvSpPr>
        <p:spPr>
          <a:xfrm>
            <a:off x="3071438" y="3441799"/>
            <a:ext cx="1606708" cy="1209675"/>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Uses </a:t>
            </a:r>
            <a:r>
              <a:rPr lang="en-US" sz="1450" b="1" dirty="0">
                <a:solidFill>
                  <a:srgbClr val="5B5F71"/>
                </a:solidFill>
                <a:latin typeface="Instrument Sans Bold" pitchFamily="34" charset="0"/>
                <a:ea typeface="Instrument Sans Bold" pitchFamily="34" charset="-122"/>
                <a:cs typeface="Instrument Sans Bold" pitchFamily="34" charset="-120"/>
              </a:rPr>
              <a:t>AI assistance only</a:t>
            </a:r>
            <a:r>
              <a:rPr lang="en-US" sz="1450" dirty="0">
                <a:solidFill>
                  <a:srgbClr val="5B5F71"/>
                </a:solidFill>
                <a:latin typeface="Instrument Sans Medium" pitchFamily="34" charset="0"/>
                <a:ea typeface="Instrument Sans Medium" pitchFamily="34" charset="-122"/>
                <a:cs typeface="Instrument Sans Medium" pitchFamily="34" charset="-120"/>
              </a:rPr>
              <a:t> for appropriate language tasks</a:t>
            </a:r>
            <a:endParaRPr lang="en-US" sz="1450" dirty="0"/>
          </a:p>
        </p:txBody>
      </p:sp>
      <p:sp>
        <p:nvSpPr>
          <p:cNvPr id="12" name="Shape 10"/>
          <p:cNvSpPr/>
          <p:nvPr/>
        </p:nvSpPr>
        <p:spPr>
          <a:xfrm>
            <a:off x="6083049" y="2874665"/>
            <a:ext cx="25399" cy="378023"/>
          </a:xfrm>
          <a:prstGeom prst="roundRect">
            <a:avLst>
              <a:gd name="adj" fmla="val 50001"/>
            </a:avLst>
          </a:prstGeom>
          <a:solidFill>
            <a:srgbClr val="C8C9CF"/>
          </a:solidFill>
          <a:ln/>
        </p:spPr>
        <p:txBody>
          <a:bodyPr/>
          <a:lstStyle/>
          <a:p>
            <a:endParaRPr lang="en-US"/>
          </a:p>
        </p:txBody>
      </p:sp>
      <p:sp>
        <p:nvSpPr>
          <p:cNvPr id="13" name="Shape 11"/>
          <p:cNvSpPr/>
          <p:nvPr/>
        </p:nvSpPr>
        <p:spPr>
          <a:xfrm>
            <a:off x="6024908" y="2803823"/>
            <a:ext cx="141681" cy="141684"/>
          </a:xfrm>
          <a:prstGeom prst="ellipse">
            <a:avLst/>
          </a:prstGeom>
          <a:solidFill>
            <a:srgbClr val="5B5F72"/>
          </a:solidFill>
          <a:ln/>
        </p:spPr>
        <p:txBody>
          <a:bodyPr/>
          <a:lstStyle/>
          <a:p>
            <a:endParaRPr lang="en-US"/>
          </a:p>
        </p:txBody>
      </p:sp>
      <p:sp>
        <p:nvSpPr>
          <p:cNvPr id="14" name="Text 12"/>
          <p:cNvSpPr/>
          <p:nvPr/>
        </p:nvSpPr>
        <p:spPr>
          <a:xfrm>
            <a:off x="5292394" y="3441799"/>
            <a:ext cx="1606807" cy="907256"/>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Routes unresolved cases to </a:t>
            </a:r>
            <a:r>
              <a:rPr lang="en-US" sz="1450" b="1" dirty="0">
                <a:solidFill>
                  <a:srgbClr val="5B5F71"/>
                </a:solidFill>
                <a:latin typeface="Instrument Sans Bold" pitchFamily="34" charset="0"/>
                <a:ea typeface="Instrument Sans Bold" pitchFamily="34" charset="-122"/>
                <a:cs typeface="Instrument Sans Bold" pitchFamily="34" charset="-120"/>
              </a:rPr>
              <a:t>Human Review</a:t>
            </a:r>
            <a:endParaRPr lang="en-US" sz="1450" dirty="0"/>
          </a:p>
        </p:txBody>
      </p:sp>
      <p:sp>
        <p:nvSpPr>
          <p:cNvPr id="15" name="Shape 13"/>
          <p:cNvSpPr/>
          <p:nvPr/>
        </p:nvSpPr>
        <p:spPr>
          <a:xfrm>
            <a:off x="8304104" y="2874665"/>
            <a:ext cx="25399" cy="378023"/>
          </a:xfrm>
          <a:prstGeom prst="roundRect">
            <a:avLst>
              <a:gd name="adj" fmla="val 50001"/>
            </a:avLst>
          </a:prstGeom>
          <a:solidFill>
            <a:srgbClr val="C8C9CF"/>
          </a:solidFill>
          <a:ln/>
        </p:spPr>
        <p:txBody>
          <a:bodyPr/>
          <a:lstStyle/>
          <a:p>
            <a:endParaRPr lang="en-US"/>
          </a:p>
        </p:txBody>
      </p:sp>
      <p:sp>
        <p:nvSpPr>
          <p:cNvPr id="16" name="Shape 14"/>
          <p:cNvSpPr/>
          <p:nvPr/>
        </p:nvSpPr>
        <p:spPr>
          <a:xfrm>
            <a:off x="8245963" y="2803823"/>
            <a:ext cx="141681" cy="141684"/>
          </a:xfrm>
          <a:prstGeom prst="ellipse">
            <a:avLst/>
          </a:prstGeom>
          <a:solidFill>
            <a:srgbClr val="5B5F72"/>
          </a:solidFill>
          <a:ln/>
        </p:spPr>
        <p:txBody>
          <a:bodyPr/>
          <a:lstStyle/>
          <a:p>
            <a:endParaRPr lang="en-US"/>
          </a:p>
        </p:txBody>
      </p:sp>
      <p:sp>
        <p:nvSpPr>
          <p:cNvPr id="17" name="Text 15"/>
          <p:cNvSpPr/>
          <p:nvPr/>
        </p:nvSpPr>
        <p:spPr>
          <a:xfrm>
            <a:off x="7513450" y="3441799"/>
            <a:ext cx="1606708" cy="907256"/>
          </a:xfrm>
          <a:prstGeom prst="rect">
            <a:avLst/>
          </a:prstGeom>
          <a:noFill/>
          <a:ln/>
        </p:spPr>
        <p:txBody>
          <a:bodyPr wrap="square" lIns="0" tIns="0" rIns="0" bIns="0" rtlCol="0" anchor="t">
            <a:normAutofit/>
          </a:bodyPr>
          <a:lstStyle/>
          <a:p>
            <a:pPr marL="0" indent="0" algn="ctr">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Records key workflow events for </a:t>
            </a:r>
            <a:r>
              <a:rPr lang="en-US" sz="1450" b="1" dirty="0">
                <a:solidFill>
                  <a:srgbClr val="5B5F71"/>
                </a:solidFill>
                <a:latin typeface="Instrument Sans Bold" pitchFamily="34" charset="0"/>
                <a:ea typeface="Instrument Sans Bold" pitchFamily="34" charset="-122"/>
                <a:cs typeface="Instrument Sans Bold" pitchFamily="34" charset="-120"/>
              </a:rPr>
              <a:t>traceability</a:t>
            </a:r>
            <a:endParaRPr lang="en-US" sz="1450" dirty="0"/>
          </a:p>
        </p:txBody>
      </p:sp>
      <p:sp>
        <p:nvSpPr>
          <p:cNvPr id="18" name="Shape 16"/>
          <p:cNvSpPr/>
          <p:nvPr/>
        </p:nvSpPr>
        <p:spPr>
          <a:xfrm>
            <a:off x="10525060" y="2874665"/>
            <a:ext cx="25399" cy="378023"/>
          </a:xfrm>
          <a:prstGeom prst="roundRect">
            <a:avLst>
              <a:gd name="adj" fmla="val 50001"/>
            </a:avLst>
          </a:prstGeom>
          <a:solidFill>
            <a:srgbClr val="C8C9CF"/>
          </a:solidFill>
          <a:ln/>
        </p:spPr>
        <p:txBody>
          <a:bodyPr/>
          <a:lstStyle/>
          <a:p>
            <a:endParaRPr lang="en-US"/>
          </a:p>
        </p:txBody>
      </p:sp>
      <p:sp>
        <p:nvSpPr>
          <p:cNvPr id="19" name="Shape 17"/>
          <p:cNvSpPr/>
          <p:nvPr/>
        </p:nvSpPr>
        <p:spPr>
          <a:xfrm>
            <a:off x="10466919" y="2803823"/>
            <a:ext cx="141681" cy="141684"/>
          </a:xfrm>
          <a:prstGeom prst="ellipse">
            <a:avLst/>
          </a:prstGeom>
          <a:solidFill>
            <a:srgbClr val="5B5F72"/>
          </a:solidFill>
          <a:ln/>
        </p:spPr>
        <p:txBody>
          <a:bodyPr/>
          <a:lstStyle/>
          <a:p>
            <a:endParaRPr lang="en-US"/>
          </a:p>
        </p:txBody>
      </p:sp>
      <p:sp>
        <p:nvSpPr>
          <p:cNvPr id="20" name="Text 18"/>
          <p:cNvSpPr/>
          <p:nvPr/>
        </p:nvSpPr>
        <p:spPr>
          <a:xfrm>
            <a:off x="9734406" y="3441799"/>
            <a:ext cx="1606807" cy="1814513"/>
          </a:xfrm>
          <a:prstGeom prst="rect">
            <a:avLst/>
          </a:prstGeom>
          <a:noFill/>
          <a:ln/>
        </p:spPr>
        <p:txBody>
          <a:bodyPr wrap="square" lIns="0" tIns="0" rIns="0" bIns="0" rtlCol="0" anchor="t">
            <a:normAutofit/>
          </a:bodyPr>
          <a:lstStyle/>
          <a:p>
            <a:pPr marL="0" indent="0" algn="ctr">
              <a:lnSpc>
                <a:spcPct val="133000"/>
              </a:lnSpc>
              <a:buNone/>
            </a:pPr>
            <a:r>
              <a:rPr lang="en-US" sz="1450" b="1" dirty="0">
                <a:solidFill>
                  <a:srgbClr val="5B5F71"/>
                </a:solidFill>
                <a:latin typeface="Instrument Sans Bold" pitchFamily="34" charset="0"/>
                <a:ea typeface="Instrument Sans Bold" pitchFamily="34" charset="-122"/>
                <a:cs typeface="Instrument Sans Bold" pitchFamily="34" charset="-120"/>
              </a:rPr>
              <a:t>Synthetic healthcare data only</a:t>
            </a:r>
            <a:r>
              <a:rPr lang="en-US" sz="1450" dirty="0">
                <a:solidFill>
                  <a:srgbClr val="5B5F71"/>
                </a:solidFill>
                <a:latin typeface="Instrument Sans Medium" pitchFamily="34" charset="0"/>
                <a:ea typeface="Instrument Sans Medium" pitchFamily="34" charset="-122"/>
                <a:cs typeface="Instrument Sans Medium" pitchFamily="34" charset="-120"/>
              </a:rPr>
              <a:t> — no autonomous clinical approval or denial</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4269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505468"/>
                </a:solidFill>
                <a:latin typeface="Instrument Sans SemiBold" pitchFamily="34" charset="0"/>
                <a:ea typeface="Instrument Sans SemiBold" pitchFamily="34" charset="-122"/>
                <a:cs typeface="Instrument Sans SemiBold" pitchFamily="34" charset="-120"/>
              </a:rPr>
              <a:t>The Business Problem: Who, When, and Why?</a:t>
            </a:r>
            <a:endParaRPr lang="en-US" sz="3700" dirty="0"/>
          </a:p>
        </p:txBody>
      </p:sp>
      <p:sp>
        <p:nvSpPr>
          <p:cNvPr id="4" name="Text 1"/>
          <p:cNvSpPr/>
          <p:nvPr/>
        </p:nvSpPr>
        <p:spPr>
          <a:xfrm>
            <a:off x="5233360" y="1986855"/>
            <a:ext cx="6906444" cy="377924"/>
          </a:xfrm>
          <a:prstGeom prst="rect">
            <a:avLst/>
          </a:prstGeom>
          <a:noFill/>
          <a:ln/>
        </p:spPr>
        <p:txBody>
          <a:bodyPr wrap="none" lIns="0" tIns="0" rIns="0" bIns="0" rtlCol="0" anchor="t"/>
          <a:lstStyle/>
          <a:p>
            <a:pPr marL="0" indent="0" algn="l">
              <a:lnSpc>
                <a:spcPct val="133000"/>
              </a:lnSpc>
              <a:buNone/>
            </a:pPr>
            <a:r>
              <a:rPr lang="en-US" sz="1850" dirty="0">
                <a:solidFill>
                  <a:srgbClr val="5B5F71"/>
                </a:solidFill>
                <a:latin typeface="Instrument Sans Medium" pitchFamily="34" charset="0"/>
                <a:ea typeface="Instrument Sans Medium" pitchFamily="34" charset="-122"/>
                <a:cs typeface="Instrument Sans Medium" pitchFamily="34" charset="-120"/>
              </a:rPr>
              <a:t>Support the checking work before further review.</a:t>
            </a:r>
            <a:endParaRPr lang="en-US" sz="1850" dirty="0"/>
          </a:p>
        </p:txBody>
      </p:sp>
      <p:pic>
        <p:nvPicPr>
          <p:cNvPr id="5" name="Image 1" descr="preencoded.png"/>
          <p:cNvPicPr>
            <a:picLocks noChangeAspect="1"/>
          </p:cNvPicPr>
          <p:nvPr/>
        </p:nvPicPr>
        <p:blipFill>
          <a:blip r:embed="rId4"/>
          <a:stretch>
            <a:fillRect/>
          </a:stretch>
        </p:blipFill>
        <p:spPr>
          <a:xfrm>
            <a:off x="5233360" y="2577405"/>
            <a:ext cx="6296860" cy="37585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82488"/>
            <a:ext cx="10868745" cy="326628"/>
          </a:xfrm>
          <a:prstGeom prst="rect">
            <a:avLst/>
          </a:prstGeom>
          <a:noFill/>
          <a:ln/>
        </p:spPr>
        <p:txBody>
          <a:bodyPr wrap="none" lIns="0" tIns="0" rIns="0" bIns="0" rtlCol="0" anchor="t"/>
          <a:lstStyle/>
          <a:p>
            <a:pPr marL="0" indent="0" algn="l">
              <a:lnSpc>
                <a:spcPct val="104000"/>
              </a:lnSpc>
              <a:buNone/>
            </a:pPr>
            <a:r>
              <a:rPr lang="en-US" sz="2050" dirty="0">
                <a:solidFill>
                  <a:srgbClr val="505468"/>
                </a:solidFill>
                <a:latin typeface="Instrument Sans SemiBold" pitchFamily="34" charset="0"/>
                <a:ea typeface="Instrument Sans SemiBold" pitchFamily="34" charset="-122"/>
                <a:cs typeface="Instrument Sans SemiBold" pitchFamily="34" charset="-120"/>
              </a:rPr>
              <a:t>From Business Need to Traceable Requirements</a:t>
            </a:r>
            <a:endParaRPr lang="en-US" sz="2050" dirty="0"/>
          </a:p>
        </p:txBody>
      </p:sp>
      <p:pic>
        <p:nvPicPr>
          <p:cNvPr id="3" name="Image 0" descr="preencoded.png"/>
          <p:cNvPicPr>
            <a:picLocks noChangeAspect="1"/>
          </p:cNvPicPr>
          <p:nvPr/>
        </p:nvPicPr>
        <p:blipFill>
          <a:blip r:embed="rId3"/>
          <a:stretch>
            <a:fillRect/>
          </a:stretch>
        </p:blipFill>
        <p:spPr>
          <a:xfrm>
            <a:off x="2804447" y="1216819"/>
            <a:ext cx="6582801" cy="3486745"/>
          </a:xfrm>
          <a:prstGeom prst="rect">
            <a:avLst/>
          </a:prstGeom>
        </p:spPr>
      </p:pic>
      <p:sp>
        <p:nvSpPr>
          <p:cNvPr id="4" name="Text 1"/>
          <p:cNvSpPr/>
          <p:nvPr/>
        </p:nvSpPr>
        <p:spPr>
          <a:xfrm>
            <a:off x="3715865" y="3708788"/>
            <a:ext cx="1627589" cy="203453"/>
          </a:xfrm>
          <a:prstGeom prst="rect">
            <a:avLst/>
          </a:prstGeom>
          <a:noFill/>
          <a:ln/>
        </p:spPr>
        <p:txBody>
          <a:bodyPr wrap="none" lIns="0" tIns="0" rIns="0" bIns="0" rtlCol="0" anchor="t"/>
          <a:lstStyle/>
          <a:p>
            <a:pPr marL="0" indent="0" algn="r">
              <a:lnSpc>
                <a:spcPct val="104000"/>
              </a:lnSpc>
              <a:buNone/>
            </a:pPr>
            <a:r>
              <a:rPr lang="en-US" sz="1250" dirty="0">
                <a:solidFill>
                  <a:srgbClr val="505468"/>
                </a:solidFill>
                <a:latin typeface="Instrument Sans SemiBold" pitchFamily="34" charset="0"/>
                <a:ea typeface="Instrument Sans SemiBold" pitchFamily="34" charset="-122"/>
                <a:cs typeface="Instrument Sans SemiBold" pitchFamily="34" charset="-120"/>
              </a:rPr>
              <a:t>Business Problem</a:t>
            </a:r>
            <a:endParaRPr lang="en-US" sz="1250" dirty="0"/>
          </a:p>
        </p:txBody>
      </p:sp>
      <p:sp>
        <p:nvSpPr>
          <p:cNvPr id="5" name="Text 2"/>
          <p:cNvSpPr/>
          <p:nvPr/>
        </p:nvSpPr>
        <p:spPr>
          <a:xfrm>
            <a:off x="3600125" y="3970112"/>
            <a:ext cx="1743328" cy="312640"/>
          </a:xfrm>
          <a:prstGeom prst="rect">
            <a:avLst/>
          </a:prstGeom>
          <a:noFill/>
          <a:ln/>
        </p:spPr>
        <p:txBody>
          <a:bodyPr wrap="square" lIns="0" tIns="0" rIns="0" bIns="0" rtlCol="0" anchor="t">
            <a:normAutofit/>
          </a:bodyPr>
          <a:lstStyle/>
          <a:p>
            <a:pPr marL="0" indent="0" algn="r">
              <a:lnSpc>
                <a:spcPct val="100000"/>
              </a:lnSpc>
              <a:buNone/>
            </a:pPr>
            <a:r>
              <a:rPr lang="en-US" sz="1000" dirty="0">
                <a:solidFill>
                  <a:srgbClr val="5B5F71"/>
                </a:solidFill>
                <a:latin typeface="Instrument Sans Medium" pitchFamily="34" charset="0"/>
                <a:ea typeface="Instrument Sans Medium" pitchFamily="34" charset="-122"/>
                <a:cs typeface="Instrument Sans Medium" pitchFamily="34" charset="-120"/>
              </a:rPr>
              <a:t>Identify stakeholders and goals.</a:t>
            </a:r>
            <a:endParaRPr lang="en-US" sz="1000" dirty="0"/>
          </a:p>
        </p:txBody>
      </p:sp>
      <p:sp>
        <p:nvSpPr>
          <p:cNvPr id="6" name="Text 3"/>
          <p:cNvSpPr/>
          <p:nvPr/>
        </p:nvSpPr>
        <p:spPr>
          <a:xfrm>
            <a:off x="2986502" y="1637403"/>
            <a:ext cx="1720384" cy="203454"/>
          </a:xfrm>
          <a:prstGeom prst="rect">
            <a:avLst/>
          </a:prstGeom>
          <a:noFill/>
          <a:ln/>
        </p:spPr>
        <p:txBody>
          <a:bodyPr wrap="none" lIns="0" tIns="0" rIns="0" bIns="0" rtlCol="0" anchor="t"/>
          <a:lstStyle/>
          <a:p>
            <a:pPr marL="0" indent="0" algn="r">
              <a:lnSpc>
                <a:spcPct val="104000"/>
              </a:lnSpc>
              <a:buNone/>
            </a:pPr>
            <a:r>
              <a:rPr lang="en-US" sz="1250" dirty="0">
                <a:solidFill>
                  <a:srgbClr val="505468"/>
                </a:solidFill>
                <a:latin typeface="Instrument Sans SemiBold" pitchFamily="34" charset="0"/>
                <a:ea typeface="Instrument Sans SemiBold" pitchFamily="34" charset="-122"/>
                <a:cs typeface="Instrument Sans SemiBold" pitchFamily="34" charset="-120"/>
              </a:rPr>
              <a:t>Requirements Defined</a:t>
            </a:r>
            <a:endParaRPr lang="en-US" sz="1250" dirty="0"/>
          </a:p>
        </p:txBody>
      </p:sp>
      <p:sp>
        <p:nvSpPr>
          <p:cNvPr id="7" name="Text 4"/>
          <p:cNvSpPr/>
          <p:nvPr/>
        </p:nvSpPr>
        <p:spPr>
          <a:xfrm>
            <a:off x="2963557" y="1898728"/>
            <a:ext cx="1743328" cy="312640"/>
          </a:xfrm>
          <a:prstGeom prst="rect">
            <a:avLst/>
          </a:prstGeom>
          <a:noFill/>
          <a:ln/>
        </p:spPr>
        <p:txBody>
          <a:bodyPr wrap="square" lIns="0" tIns="0" rIns="0" bIns="0" rtlCol="0" anchor="t">
            <a:normAutofit/>
          </a:bodyPr>
          <a:lstStyle/>
          <a:p>
            <a:pPr marL="0" indent="0" algn="r">
              <a:lnSpc>
                <a:spcPct val="100000"/>
              </a:lnSpc>
              <a:buNone/>
            </a:pPr>
            <a:r>
              <a:rPr lang="en-US" sz="1000" dirty="0">
                <a:solidFill>
                  <a:srgbClr val="5B5F71"/>
                </a:solidFill>
                <a:latin typeface="Instrument Sans Medium" pitchFamily="34" charset="0"/>
                <a:ea typeface="Instrument Sans Medium" pitchFamily="34" charset="-122"/>
                <a:cs typeface="Instrument Sans Medium" pitchFamily="34" charset="-120"/>
              </a:rPr>
              <a:t>Capture business, functional, technical needs.</a:t>
            </a:r>
            <a:endParaRPr lang="en-US" sz="1000" dirty="0"/>
          </a:p>
        </p:txBody>
      </p:sp>
      <p:sp>
        <p:nvSpPr>
          <p:cNvPr id="8" name="Text 5"/>
          <p:cNvSpPr/>
          <p:nvPr/>
        </p:nvSpPr>
        <p:spPr>
          <a:xfrm>
            <a:off x="6869770" y="1637403"/>
            <a:ext cx="1627589" cy="203454"/>
          </a:xfrm>
          <a:prstGeom prst="rect">
            <a:avLst/>
          </a:prstGeom>
          <a:noFill/>
          <a:ln/>
        </p:spPr>
        <p:txBody>
          <a:bodyPr wrap="none" lIns="0" tIns="0" rIns="0" bIns="0" rtlCol="0" anchor="t"/>
          <a:lstStyle/>
          <a:p>
            <a:pPr marL="0" indent="0" algn="l">
              <a:lnSpc>
                <a:spcPct val="104000"/>
              </a:lnSpc>
              <a:buNone/>
            </a:pPr>
            <a:r>
              <a:rPr lang="en-US" sz="1250" dirty="0">
                <a:solidFill>
                  <a:srgbClr val="505468"/>
                </a:solidFill>
                <a:latin typeface="Instrument Sans SemiBold" pitchFamily="34" charset="0"/>
                <a:ea typeface="Instrument Sans SemiBold" pitchFamily="34" charset="-122"/>
                <a:cs typeface="Instrument Sans SemiBold" pitchFamily="34" charset="-120"/>
              </a:rPr>
              <a:t>Functional Trace</a:t>
            </a:r>
            <a:endParaRPr lang="en-US" sz="1250" dirty="0"/>
          </a:p>
        </p:txBody>
      </p:sp>
      <p:sp>
        <p:nvSpPr>
          <p:cNvPr id="9" name="Text 6"/>
          <p:cNvSpPr/>
          <p:nvPr/>
        </p:nvSpPr>
        <p:spPr>
          <a:xfrm>
            <a:off x="6869770" y="1898728"/>
            <a:ext cx="1743328" cy="312640"/>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5B5F71"/>
                </a:solidFill>
                <a:latin typeface="Instrument Sans Medium" pitchFamily="34" charset="0"/>
                <a:ea typeface="Instrument Sans Medium" pitchFamily="34" charset="-122"/>
                <a:cs typeface="Instrument Sans Medium" pitchFamily="34" charset="-120"/>
              </a:rPr>
              <a:t>Document 28 functions linked to tests.</a:t>
            </a:r>
            <a:endParaRPr lang="en-US" sz="1000" dirty="0"/>
          </a:p>
        </p:txBody>
      </p:sp>
      <p:sp>
        <p:nvSpPr>
          <p:cNvPr id="10" name="Text 7"/>
          <p:cNvSpPr/>
          <p:nvPr/>
        </p:nvSpPr>
        <p:spPr>
          <a:xfrm>
            <a:off x="7484637" y="3708900"/>
            <a:ext cx="1627589" cy="203454"/>
          </a:xfrm>
          <a:prstGeom prst="rect">
            <a:avLst/>
          </a:prstGeom>
          <a:noFill/>
          <a:ln/>
        </p:spPr>
        <p:txBody>
          <a:bodyPr wrap="none" lIns="0" tIns="0" rIns="0" bIns="0" rtlCol="0" anchor="t"/>
          <a:lstStyle/>
          <a:p>
            <a:pPr marL="0" indent="0" algn="l">
              <a:lnSpc>
                <a:spcPct val="104000"/>
              </a:lnSpc>
              <a:buNone/>
            </a:pPr>
            <a:r>
              <a:rPr lang="en-US" sz="1250" dirty="0">
                <a:solidFill>
                  <a:srgbClr val="505468"/>
                </a:solidFill>
                <a:latin typeface="Instrument Sans SemiBold" pitchFamily="34" charset="0"/>
                <a:ea typeface="Instrument Sans SemiBold" pitchFamily="34" charset="-122"/>
                <a:cs typeface="Instrument Sans SemiBold" pitchFamily="34" charset="-120"/>
              </a:rPr>
              <a:t>Status Tracking</a:t>
            </a:r>
            <a:endParaRPr lang="en-US" sz="1250" dirty="0"/>
          </a:p>
        </p:txBody>
      </p:sp>
      <p:sp>
        <p:nvSpPr>
          <p:cNvPr id="11" name="Text 8"/>
          <p:cNvSpPr/>
          <p:nvPr/>
        </p:nvSpPr>
        <p:spPr>
          <a:xfrm>
            <a:off x="7484637" y="3970225"/>
            <a:ext cx="1743329" cy="312641"/>
          </a:xfrm>
          <a:prstGeom prst="rect">
            <a:avLst/>
          </a:prstGeom>
          <a:noFill/>
          <a:ln/>
        </p:spPr>
        <p:txBody>
          <a:bodyPr wrap="square" lIns="0" tIns="0" rIns="0" bIns="0" rtlCol="0" anchor="t">
            <a:normAutofit/>
          </a:bodyPr>
          <a:lstStyle/>
          <a:p>
            <a:pPr marL="0" indent="0" algn="l">
              <a:lnSpc>
                <a:spcPct val="100000"/>
              </a:lnSpc>
              <a:buNone/>
            </a:pPr>
            <a:r>
              <a:rPr lang="en-US" sz="1000" dirty="0">
                <a:solidFill>
                  <a:srgbClr val="5B5F71"/>
                </a:solidFill>
                <a:latin typeface="Instrument Sans Medium" pitchFamily="34" charset="0"/>
                <a:ea typeface="Instrument Sans Medium" pitchFamily="34" charset="-122"/>
                <a:cs typeface="Instrument Sans Medium" pitchFamily="34" charset="-120"/>
              </a:rPr>
              <a:t>Track validated versus planned items.</a:t>
            </a:r>
            <a:endParaRPr lang="en-US" sz="1000" dirty="0"/>
          </a:p>
        </p:txBody>
      </p:sp>
      <p:sp>
        <p:nvSpPr>
          <p:cNvPr id="12" name="Text 9"/>
          <p:cNvSpPr/>
          <p:nvPr/>
        </p:nvSpPr>
        <p:spPr>
          <a:xfrm>
            <a:off x="661475" y="5053008"/>
            <a:ext cx="5221851" cy="272157"/>
          </a:xfrm>
          <a:prstGeom prst="rect">
            <a:avLst/>
          </a:prstGeom>
          <a:noFill/>
          <a:ln/>
        </p:spPr>
        <p:txBody>
          <a:bodyPr wrap="none" lIns="0" tIns="0" rIns="0" bIns="0" rtlCol="0" anchor="t"/>
          <a:lstStyle/>
          <a:p>
            <a:pPr marL="0" indent="0" algn="l">
              <a:lnSpc>
                <a:spcPct val="104000"/>
              </a:lnSpc>
              <a:buNone/>
            </a:pPr>
            <a:r>
              <a:rPr lang="en-US" sz="1700" dirty="0">
                <a:solidFill>
                  <a:srgbClr val="505468"/>
                </a:solidFill>
                <a:latin typeface="Instrument Sans SemiBold" pitchFamily="34" charset="0"/>
                <a:ea typeface="Instrument Sans SemiBold" pitchFamily="34" charset="-122"/>
                <a:cs typeface="Instrument Sans SemiBold" pitchFamily="34" charset="-120"/>
              </a:rPr>
              <a:t>Structured Requirement Layers</a:t>
            </a:r>
            <a:endParaRPr lang="en-US" sz="1700" dirty="0"/>
          </a:p>
        </p:txBody>
      </p:sp>
      <p:sp>
        <p:nvSpPr>
          <p:cNvPr id="13" name="Text 10"/>
          <p:cNvSpPr/>
          <p:nvPr/>
        </p:nvSpPr>
        <p:spPr>
          <a:xfrm>
            <a:off x="661475" y="5477669"/>
            <a:ext cx="5221851" cy="755253"/>
          </a:xfrm>
          <a:prstGeom prst="rect">
            <a:avLst/>
          </a:prstGeom>
          <a:noFill/>
          <a:ln/>
        </p:spPr>
        <p:txBody>
          <a:bodyPr wrap="square" lIns="0" tIns="0" rIns="0" bIns="0" rtlCol="0" anchor="t">
            <a:normAutofit/>
          </a:bodyPr>
          <a:lstStyle/>
          <a:p>
            <a:pPr marL="213360" indent="-213360" algn="l">
              <a:lnSpc>
                <a:spcPct val="128000"/>
              </a:lnSpc>
              <a:buSzPct val="100000"/>
              <a:buChar char="•"/>
            </a:pPr>
            <a:r>
              <a:rPr lang="en-US" sz="1050" b="1" dirty="0">
                <a:solidFill>
                  <a:srgbClr val="5B5F71"/>
                </a:solidFill>
                <a:latin typeface="Instrument Sans Bold" pitchFamily="34" charset="0"/>
                <a:ea typeface="Instrument Sans Bold" pitchFamily="34" charset="-122"/>
                <a:cs typeface="Instrument Sans Bold" pitchFamily="34" charset="-120"/>
              </a:rPr>
              <a:t>Business requirements:</a:t>
            </a:r>
            <a:r>
              <a:rPr lang="en-US" sz="1050" dirty="0">
                <a:solidFill>
                  <a:srgbClr val="5B5F71"/>
                </a:solidFill>
                <a:latin typeface="Instrument Sans Medium" pitchFamily="34" charset="0"/>
                <a:ea typeface="Instrument Sans Medium" pitchFamily="34" charset="-122"/>
                <a:cs typeface="Instrument Sans Medium" pitchFamily="34" charset="-120"/>
              </a:rPr>
              <a:t> stakeholder goals and compliance needs</a:t>
            </a:r>
            <a:endParaRPr lang="en-US" sz="1050" dirty="0"/>
          </a:p>
          <a:p>
            <a:pPr marL="213360" indent="-213360" algn="l">
              <a:lnSpc>
                <a:spcPct val="128000"/>
              </a:lnSpc>
              <a:buSzPct val="100000"/>
              <a:buChar char="•"/>
            </a:pPr>
            <a:r>
              <a:rPr lang="en-US" sz="1050" b="1" dirty="0">
                <a:solidFill>
                  <a:srgbClr val="5B5F71"/>
                </a:solidFill>
                <a:latin typeface="Instrument Sans Bold" pitchFamily="34" charset="0"/>
                <a:ea typeface="Instrument Sans Bold" pitchFamily="34" charset="-122"/>
                <a:cs typeface="Instrument Sans Bold" pitchFamily="34" charset="-120"/>
              </a:rPr>
              <a:t>Functional requirements:</a:t>
            </a:r>
            <a:r>
              <a:rPr lang="en-US" sz="1050" dirty="0">
                <a:solidFill>
                  <a:srgbClr val="5B5F71"/>
                </a:solidFill>
                <a:latin typeface="Instrument Sans Medium" pitchFamily="34" charset="0"/>
                <a:ea typeface="Instrument Sans Medium" pitchFamily="34" charset="-122"/>
                <a:cs typeface="Instrument Sans Medium" pitchFamily="34" charset="-120"/>
              </a:rPr>
              <a:t> 28 documented capabilities</a:t>
            </a:r>
            <a:endParaRPr lang="en-US" sz="1050" dirty="0"/>
          </a:p>
          <a:p>
            <a:pPr marL="213360" indent="-213360" algn="l">
              <a:lnSpc>
                <a:spcPct val="128000"/>
              </a:lnSpc>
              <a:buSzPct val="100000"/>
              <a:buChar char="•"/>
            </a:pPr>
            <a:r>
              <a:rPr lang="en-US" sz="1050" b="1" dirty="0">
                <a:solidFill>
                  <a:srgbClr val="5B5F71"/>
                </a:solidFill>
                <a:latin typeface="Instrument Sans Bold" pitchFamily="34" charset="0"/>
                <a:ea typeface="Instrument Sans Bold" pitchFamily="34" charset="-122"/>
                <a:cs typeface="Instrument Sans Bold" pitchFamily="34" charset="-120"/>
              </a:rPr>
              <a:t>Technical requirements:</a:t>
            </a:r>
            <a:r>
              <a:rPr lang="en-US" sz="1050" dirty="0">
                <a:solidFill>
                  <a:srgbClr val="5B5F71"/>
                </a:solidFill>
                <a:latin typeface="Instrument Sans Medium" pitchFamily="34" charset="0"/>
                <a:ea typeface="Instrument Sans Medium" pitchFamily="34" charset="-122"/>
                <a:cs typeface="Instrument Sans Medium" pitchFamily="34" charset="-120"/>
              </a:rPr>
              <a:t> architecture, data, and API contracts</a:t>
            </a:r>
            <a:endParaRPr lang="en-US" sz="1050" dirty="0"/>
          </a:p>
        </p:txBody>
      </p:sp>
      <p:sp>
        <p:nvSpPr>
          <p:cNvPr id="14" name="Text 11"/>
          <p:cNvSpPr/>
          <p:nvPr/>
        </p:nvSpPr>
        <p:spPr>
          <a:xfrm>
            <a:off x="6314719" y="5053008"/>
            <a:ext cx="5221851" cy="272157"/>
          </a:xfrm>
          <a:prstGeom prst="rect">
            <a:avLst/>
          </a:prstGeom>
          <a:noFill/>
          <a:ln/>
        </p:spPr>
        <p:txBody>
          <a:bodyPr wrap="none" lIns="0" tIns="0" rIns="0" bIns="0" rtlCol="0" anchor="t"/>
          <a:lstStyle/>
          <a:p>
            <a:pPr marL="0" indent="0" algn="l">
              <a:lnSpc>
                <a:spcPct val="104000"/>
              </a:lnSpc>
              <a:buNone/>
            </a:pPr>
            <a:r>
              <a:rPr lang="en-US" sz="1700" dirty="0">
                <a:solidFill>
                  <a:srgbClr val="505468"/>
                </a:solidFill>
                <a:latin typeface="Instrument Sans SemiBold" pitchFamily="34" charset="0"/>
                <a:ea typeface="Instrument Sans SemiBold" pitchFamily="34" charset="-122"/>
                <a:cs typeface="Instrument Sans SemiBold" pitchFamily="34" charset="-120"/>
              </a:rPr>
              <a:t>Linked and Tracked</a:t>
            </a:r>
            <a:endParaRPr lang="en-US" sz="1700" dirty="0"/>
          </a:p>
        </p:txBody>
      </p:sp>
      <p:sp>
        <p:nvSpPr>
          <p:cNvPr id="15" name="Text 12"/>
          <p:cNvSpPr/>
          <p:nvPr/>
        </p:nvSpPr>
        <p:spPr>
          <a:xfrm>
            <a:off x="6314719" y="5477669"/>
            <a:ext cx="5221851" cy="642938"/>
          </a:xfrm>
          <a:prstGeom prst="rect">
            <a:avLst/>
          </a:prstGeom>
          <a:noFill/>
          <a:ln/>
        </p:spPr>
        <p:txBody>
          <a:bodyPr wrap="square" lIns="0" tIns="0" rIns="0" bIns="0" rtlCol="0" anchor="t">
            <a:normAutofit/>
          </a:bodyPr>
          <a:lstStyle/>
          <a:p>
            <a:pPr marL="0" indent="0" algn="l">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Each requirement is linked to its implementation, test coverage, and audit-event plan. Actual status — </a:t>
            </a:r>
            <a:r>
              <a:rPr lang="en-US" sz="1050" b="1" dirty="0">
                <a:solidFill>
                  <a:srgbClr val="5B5F71"/>
                </a:solidFill>
                <a:latin typeface="Instrument Sans Bold" pitchFamily="34" charset="0"/>
                <a:ea typeface="Instrument Sans Bold" pitchFamily="34" charset="-122"/>
                <a:cs typeface="Instrument Sans Bold" pitchFamily="34" charset="-120"/>
              </a:rPr>
              <a:t>validated</a:t>
            </a:r>
            <a:r>
              <a:rPr lang="en-US" sz="1050" dirty="0">
                <a:solidFill>
                  <a:srgbClr val="5B5F71"/>
                </a:solidFill>
                <a:latin typeface="Instrument Sans Medium" pitchFamily="34" charset="0"/>
                <a:ea typeface="Instrument Sans Medium" pitchFamily="34" charset="-122"/>
                <a:cs typeface="Instrument Sans Medium" pitchFamily="34" charset="-120"/>
              </a:rPr>
              <a:t> vs. </a:t>
            </a:r>
            <a:r>
              <a:rPr lang="en-US" sz="1050" b="1" dirty="0">
                <a:solidFill>
                  <a:srgbClr val="5B5F71"/>
                </a:solidFill>
                <a:latin typeface="Instrument Sans Bold" pitchFamily="34" charset="0"/>
                <a:ea typeface="Instrument Sans Bold" pitchFamily="34" charset="-122"/>
                <a:cs typeface="Instrument Sans Bold" pitchFamily="34" charset="-120"/>
              </a:rPr>
              <a:t>planned</a:t>
            </a:r>
            <a:r>
              <a:rPr lang="en-US" sz="1050" dirty="0">
                <a:solidFill>
                  <a:srgbClr val="5B5F71"/>
                </a:solidFill>
                <a:latin typeface="Instrument Sans Medium" pitchFamily="34" charset="0"/>
                <a:ea typeface="Instrument Sans Medium" pitchFamily="34" charset="-122"/>
                <a:cs typeface="Instrument Sans Medium" pitchFamily="34" charset="-120"/>
              </a:rPr>
              <a:t> — is tracked explicitly, ensuring no capability is overclaimed.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59559"/>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505468"/>
                </a:solidFill>
                <a:latin typeface="Instrument Sans SemiBold" pitchFamily="34" charset="0"/>
                <a:ea typeface="Instrument Sans SemiBold" pitchFamily="34" charset="-122"/>
                <a:cs typeface="Instrument Sans SemiBold" pitchFamily="34" charset="-120"/>
              </a:rPr>
              <a:t>How the System Works: Four Main Components</a:t>
            </a:r>
            <a:endParaRPr lang="en-US" sz="3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422003"/>
            <a:ext cx="443001" cy="443012"/>
          </a:xfrm>
          <a:prstGeom prst="rect">
            <a:avLst/>
          </a:prstGeom>
        </p:spPr>
      </p:pic>
      <p:sp>
        <p:nvSpPr>
          <p:cNvPr id="4" name="Text 1"/>
          <p:cNvSpPr/>
          <p:nvPr/>
        </p:nvSpPr>
        <p:spPr>
          <a:xfrm>
            <a:off x="661475" y="2072680"/>
            <a:ext cx="5330493"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Streamlit</a:t>
            </a:r>
            <a:endParaRPr lang="en-US" sz="1700" dirty="0"/>
          </a:p>
        </p:txBody>
      </p:sp>
      <p:sp>
        <p:nvSpPr>
          <p:cNvPr id="5" name="Text 2"/>
          <p:cNvSpPr/>
          <p:nvPr/>
        </p:nvSpPr>
        <p:spPr>
          <a:xfrm>
            <a:off x="661475" y="2449215"/>
            <a:ext cx="5330493"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The user-facing web interface. Staff submit requests, view status, and complete Human Review actions here.</a:t>
            </a:r>
            <a:endParaRPr lang="en-US" sz="13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628" y="1422003"/>
            <a:ext cx="443001" cy="443012"/>
          </a:xfrm>
          <a:prstGeom prst="rect">
            <a:avLst/>
          </a:prstGeom>
        </p:spPr>
      </p:pic>
      <p:sp>
        <p:nvSpPr>
          <p:cNvPr id="7" name="Text 3"/>
          <p:cNvSpPr/>
          <p:nvPr/>
        </p:nvSpPr>
        <p:spPr>
          <a:xfrm>
            <a:off x="6199628" y="2072680"/>
            <a:ext cx="5330592"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FastAPI</a:t>
            </a:r>
            <a:endParaRPr lang="en-US" sz="1700" dirty="0"/>
          </a:p>
        </p:txBody>
      </p:sp>
      <p:sp>
        <p:nvSpPr>
          <p:cNvPr id="8" name="Text 4"/>
          <p:cNvSpPr/>
          <p:nvPr/>
        </p:nvSpPr>
        <p:spPr>
          <a:xfrm>
            <a:off x="6199628" y="2449215"/>
            <a:ext cx="5330592"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The backend service layer. Receives requests from Streamlit, coordinates workflow execution, and returns results.</a:t>
            </a:r>
            <a:endParaRPr lang="en-US" sz="13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330674"/>
            <a:ext cx="443001" cy="443012"/>
          </a:xfrm>
          <a:prstGeom prst="rect">
            <a:avLst/>
          </a:prstGeom>
        </p:spPr>
      </p:pic>
      <p:sp>
        <p:nvSpPr>
          <p:cNvPr id="10" name="Text 5"/>
          <p:cNvSpPr/>
          <p:nvPr/>
        </p:nvSpPr>
        <p:spPr>
          <a:xfrm>
            <a:off x="661475" y="3981351"/>
            <a:ext cx="5330493"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LangGraph / Python</a:t>
            </a:r>
            <a:endParaRPr lang="en-US" sz="1700" dirty="0"/>
          </a:p>
        </p:txBody>
      </p:sp>
      <p:sp>
        <p:nvSpPr>
          <p:cNvPr id="11" name="Text 6"/>
          <p:cNvSpPr/>
          <p:nvPr/>
        </p:nvSpPr>
        <p:spPr>
          <a:xfrm>
            <a:off x="661475" y="4357886"/>
            <a:ext cx="5330493"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Orchestrates the step-by-step workflow logic. Applies deterministic rules; optionally calls Azure OpenAI for language tasks only.</a:t>
            </a:r>
            <a:endParaRPr lang="en-US" sz="13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9628" y="3330674"/>
            <a:ext cx="443001" cy="443012"/>
          </a:xfrm>
          <a:prstGeom prst="rect">
            <a:avLst/>
          </a:prstGeom>
        </p:spPr>
      </p:pic>
      <p:sp>
        <p:nvSpPr>
          <p:cNvPr id="13" name="Text 7"/>
          <p:cNvSpPr/>
          <p:nvPr/>
        </p:nvSpPr>
        <p:spPr>
          <a:xfrm>
            <a:off x="6199628" y="3981351"/>
            <a:ext cx="5330592"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SQL Server</a:t>
            </a:r>
            <a:endParaRPr lang="en-US" sz="1700" dirty="0"/>
          </a:p>
        </p:txBody>
      </p:sp>
      <p:sp>
        <p:nvSpPr>
          <p:cNvPr id="14" name="Text 8"/>
          <p:cNvSpPr/>
          <p:nvPr/>
        </p:nvSpPr>
        <p:spPr>
          <a:xfrm>
            <a:off x="6199628" y="4357886"/>
            <a:ext cx="5330592"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Stores cases, workflow runs, Human Review records, and audit events. Pydantic models validate data; synthetic FHIR-style structures represent clinical evidence.</a:t>
            </a:r>
            <a:endParaRPr lang="en-US" sz="1350" dirty="0"/>
          </a:p>
        </p:txBody>
      </p:sp>
      <p:sp>
        <p:nvSpPr>
          <p:cNvPr id="15" name="Shape 9"/>
          <p:cNvSpPr/>
          <p:nvPr/>
        </p:nvSpPr>
        <p:spPr>
          <a:xfrm>
            <a:off x="661475" y="5368627"/>
            <a:ext cx="10868745" cy="953294"/>
          </a:xfrm>
          <a:prstGeom prst="roundRect">
            <a:avLst>
              <a:gd name="adj" fmla="val 7807"/>
            </a:avLst>
          </a:prstGeom>
          <a:solidFill>
            <a:srgbClr val="F4F4F5"/>
          </a:solidFill>
          <a:ln/>
        </p:spPr>
        <p:txBody>
          <a:bodyPr/>
          <a:lstStyle/>
          <a:p>
            <a:endParaRPr lang="en-US"/>
          </a:p>
        </p:txBody>
      </p:sp>
      <p:pic>
        <p:nvPicPr>
          <p:cNvPr id="16" name="Image 4" descr="preencoded.png"/>
          <p:cNvPicPr>
            <a:picLocks noChangeAspect="1"/>
          </p:cNvPicPr>
          <p:nvPr/>
        </p:nvPicPr>
        <p:blipFill>
          <a:blip r:embed="rId7"/>
          <a:stretch>
            <a:fillRect/>
          </a:stretch>
        </p:blipFill>
        <p:spPr>
          <a:xfrm>
            <a:off x="838675" y="5608042"/>
            <a:ext cx="221451" cy="177205"/>
          </a:xfrm>
          <a:prstGeom prst="rect">
            <a:avLst/>
          </a:prstGeom>
        </p:spPr>
      </p:pic>
      <p:sp>
        <p:nvSpPr>
          <p:cNvPr id="17" name="Text 10"/>
          <p:cNvSpPr/>
          <p:nvPr/>
        </p:nvSpPr>
        <p:spPr>
          <a:xfrm>
            <a:off x="1237326" y="5578971"/>
            <a:ext cx="10115694"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000000"/>
                </a:solidFill>
                <a:latin typeface="Instrument Sans Medium" pitchFamily="34" charset="0"/>
                <a:ea typeface="Instrument Sans Medium" pitchFamily="34" charset="-122"/>
                <a:cs typeface="Instrument Sans Medium" pitchFamily="34" charset="-120"/>
              </a:rPr>
              <a:t>Azure OpenAI is configured as an optional external language support component. It was </a:t>
            </a:r>
            <a:r>
              <a:rPr lang="en-US" sz="1350" b="1" dirty="0">
                <a:solidFill>
                  <a:srgbClr val="000000"/>
                </a:solidFill>
                <a:latin typeface="Instrument Sans Bold" pitchFamily="34" charset="0"/>
                <a:ea typeface="Instrument Sans Bold" pitchFamily="34" charset="-122"/>
                <a:cs typeface="Instrument Sans Bold" pitchFamily="34" charset="-120"/>
              </a:rPr>
              <a:t>not called live</a:t>
            </a:r>
            <a:r>
              <a:rPr lang="en-US" sz="1350" dirty="0">
                <a:solidFill>
                  <a:srgbClr val="000000"/>
                </a:solidFill>
                <a:latin typeface="Instrument Sans Medium" pitchFamily="34" charset="0"/>
                <a:ea typeface="Instrument Sans Medium" pitchFamily="34" charset="-122"/>
                <a:cs typeface="Instrument Sans Medium" pitchFamily="34" charset="-120"/>
              </a:rPr>
              <a:t> during Task 26D validation.</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20876"/>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505468"/>
                </a:solidFill>
                <a:latin typeface="Instrument Sans SemiBold" pitchFamily="34" charset="0"/>
                <a:ea typeface="Instrument Sans SemiBold" pitchFamily="34" charset="-122"/>
                <a:cs typeface="Instrument Sans SemiBold" pitchFamily="34" charset="-120"/>
              </a:rPr>
              <a:t>Rules First, AI Only When Appropriate</a:t>
            </a:r>
            <a:endParaRPr lang="en-US" sz="34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587103"/>
            <a:ext cx="4314122" cy="1384796"/>
          </a:xfrm>
          <a:prstGeom prst="rect">
            <a:avLst/>
          </a:prstGeom>
        </p:spPr>
      </p:pic>
      <p:sp>
        <p:nvSpPr>
          <p:cNvPr id="4" name="Text 1"/>
          <p:cNvSpPr/>
          <p:nvPr/>
        </p:nvSpPr>
        <p:spPr>
          <a:xfrm>
            <a:off x="933923" y="1783358"/>
            <a:ext cx="3845424"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Missing Information</a:t>
            </a:r>
            <a:endParaRPr lang="en-US" sz="1700" dirty="0"/>
          </a:p>
        </p:txBody>
      </p:sp>
      <p:sp>
        <p:nvSpPr>
          <p:cNvPr id="5" name="Text 2"/>
          <p:cNvSpPr/>
          <p:nvPr/>
        </p:nvSpPr>
        <p:spPr>
          <a:xfrm>
            <a:off x="933923" y="2226370"/>
            <a:ext cx="3845424"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Check required fields and supporting documents using deterministic rules.</a:t>
            </a:r>
            <a:endParaRPr lang="en-US" sz="13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137991"/>
            <a:ext cx="4314122" cy="1384796"/>
          </a:xfrm>
          <a:prstGeom prst="rect">
            <a:avLst/>
          </a:prstGeom>
        </p:spPr>
      </p:pic>
      <p:sp>
        <p:nvSpPr>
          <p:cNvPr id="7" name="Text 3"/>
          <p:cNvSpPr/>
          <p:nvPr/>
        </p:nvSpPr>
        <p:spPr>
          <a:xfrm>
            <a:off x="933923" y="3334246"/>
            <a:ext cx="3845424"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Evidence Mismatch</a:t>
            </a:r>
            <a:endParaRPr lang="en-US" sz="1700" dirty="0"/>
          </a:p>
        </p:txBody>
      </p:sp>
      <p:sp>
        <p:nvSpPr>
          <p:cNvPr id="8" name="Text 4"/>
          <p:cNvSpPr/>
          <p:nvPr/>
        </p:nvSpPr>
        <p:spPr>
          <a:xfrm>
            <a:off x="933923" y="3777258"/>
            <a:ext cx="3845424"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Compare the request's diagnosis code with supporting healthcare evidence.</a:t>
            </a:r>
            <a:endParaRPr lang="en-US" sz="13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688880"/>
            <a:ext cx="4314122" cy="1384796"/>
          </a:xfrm>
          <a:prstGeom prst="rect">
            <a:avLst/>
          </a:prstGeom>
        </p:spPr>
      </p:pic>
      <p:sp>
        <p:nvSpPr>
          <p:cNvPr id="10" name="Text 5"/>
          <p:cNvSpPr/>
          <p:nvPr/>
        </p:nvSpPr>
        <p:spPr>
          <a:xfrm>
            <a:off x="933923" y="4885134"/>
            <a:ext cx="3845424"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Unresolved → Human Review</a:t>
            </a:r>
            <a:endParaRPr lang="en-US" sz="1700" dirty="0"/>
          </a:p>
        </p:txBody>
      </p:sp>
      <p:sp>
        <p:nvSpPr>
          <p:cNvPr id="11" name="Text 6"/>
          <p:cNvSpPr/>
          <p:nvPr/>
        </p:nvSpPr>
        <p:spPr>
          <a:xfrm>
            <a:off x="933923" y="5328146"/>
            <a:ext cx="3845424"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An unresolved evidence mismatch routes directly to Human Review without an AI call.</a:t>
            </a:r>
            <a:endParaRPr lang="en-US" sz="1350" dirty="0"/>
          </a:p>
        </p:txBody>
      </p:sp>
      <p:pic>
        <p:nvPicPr>
          <p:cNvPr id="12" name="Image 3" descr="preencoded.png"/>
          <p:cNvPicPr>
            <a:picLocks noChangeAspect="1"/>
          </p:cNvPicPr>
          <p:nvPr/>
        </p:nvPicPr>
        <p:blipFill>
          <a:blip r:embed="rId4"/>
          <a:stretch>
            <a:fillRect/>
          </a:stretch>
        </p:blipFill>
        <p:spPr>
          <a:xfrm>
            <a:off x="5414133" y="1587103"/>
            <a:ext cx="6122338" cy="3670995"/>
          </a:xfrm>
          <a:prstGeom prst="rect">
            <a:avLst/>
          </a:prstGeom>
        </p:spPr>
      </p:pic>
      <p:sp>
        <p:nvSpPr>
          <p:cNvPr id="13" name="Text 7"/>
          <p:cNvSpPr/>
          <p:nvPr/>
        </p:nvSpPr>
        <p:spPr>
          <a:xfrm>
            <a:off x="5414133" y="5444927"/>
            <a:ext cx="6122338"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5B5F71"/>
                </a:solidFill>
                <a:latin typeface="Instrument Sans Medium" pitchFamily="34" charset="0"/>
                <a:ea typeface="Instrument Sans Medium" pitchFamily="34" charset="-122"/>
                <a:cs typeface="Instrument Sans Medium" pitchFamily="34" charset="-120"/>
              </a:rPr>
              <a:t>Real local validation: Evidence mismatch detected → HUMAN_REVIEW_REQUIRED. No live AI call.</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29960"/>
            <a:ext cx="10868745" cy="276920"/>
          </a:xfrm>
          <a:prstGeom prst="rect">
            <a:avLst/>
          </a:prstGeom>
          <a:noFill/>
          <a:ln/>
        </p:spPr>
        <p:txBody>
          <a:bodyPr wrap="none" lIns="0" tIns="0" rIns="0" bIns="0" rtlCol="0" anchor="t"/>
          <a:lstStyle/>
          <a:p>
            <a:pPr marL="0" indent="0" algn="l">
              <a:lnSpc>
                <a:spcPct val="104000"/>
              </a:lnSpc>
              <a:buNone/>
            </a:pPr>
            <a:r>
              <a:rPr lang="en-US" sz="1700" dirty="0">
                <a:solidFill>
                  <a:srgbClr val="505468"/>
                </a:solidFill>
                <a:latin typeface="Instrument Sans SemiBold" pitchFamily="34" charset="0"/>
                <a:ea typeface="Instrument Sans SemiBold" pitchFamily="34" charset="-122"/>
                <a:cs typeface="Instrument Sans SemiBold" pitchFamily="34" charset="-120"/>
              </a:rPr>
              <a:t>AI Assists. Humans Review.</a:t>
            </a:r>
            <a:endParaRPr lang="en-US" sz="1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232694"/>
            <a:ext cx="5105173" cy="1775718"/>
          </a:xfrm>
          <a:prstGeom prst="rect">
            <a:avLst/>
          </a:prstGeom>
        </p:spPr>
      </p:pic>
      <p:sp>
        <p:nvSpPr>
          <p:cNvPr id="4" name="Text 1"/>
          <p:cNvSpPr/>
          <p:nvPr/>
        </p:nvSpPr>
        <p:spPr>
          <a:xfrm>
            <a:off x="933923" y="1428948"/>
            <a:ext cx="4636475"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What AI May Do</a:t>
            </a:r>
            <a:endParaRPr lang="en-US" sz="1700" dirty="0"/>
          </a:p>
        </p:txBody>
      </p:sp>
      <p:sp>
        <p:nvSpPr>
          <p:cNvPr id="5" name="Text 2"/>
          <p:cNvSpPr/>
          <p:nvPr/>
        </p:nvSpPr>
        <p:spPr>
          <a:xfrm>
            <a:off x="933923" y="1871960"/>
            <a:ext cx="4636475" cy="940197"/>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Summarize request text</a:t>
            </a:r>
            <a:endParaRPr lang="en-US" sz="1350" dirty="0"/>
          </a:p>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Identify ambiguous language</a:t>
            </a:r>
            <a:endParaRPr lang="en-US" sz="1350" dirty="0"/>
          </a:p>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Suggest clarifying questions</a:t>
            </a:r>
            <a:endParaRPr lang="en-US" sz="13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174504"/>
            <a:ext cx="5105173" cy="2383135"/>
          </a:xfrm>
          <a:prstGeom prst="rect">
            <a:avLst/>
          </a:prstGeom>
        </p:spPr>
      </p:pic>
      <p:sp>
        <p:nvSpPr>
          <p:cNvPr id="7" name="Text 3"/>
          <p:cNvSpPr/>
          <p:nvPr/>
        </p:nvSpPr>
        <p:spPr>
          <a:xfrm>
            <a:off x="933923" y="3370759"/>
            <a:ext cx="4636475" cy="276920"/>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Human Review Actions</a:t>
            </a:r>
            <a:endParaRPr lang="en-US" sz="1700" dirty="0"/>
          </a:p>
        </p:txBody>
      </p:sp>
      <p:sp>
        <p:nvSpPr>
          <p:cNvPr id="8" name="Text 4"/>
          <p:cNvSpPr/>
          <p:nvPr/>
        </p:nvSpPr>
        <p:spPr>
          <a:xfrm>
            <a:off x="933923" y="3813770"/>
            <a:ext cx="4636475" cy="1547614"/>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Continue processing (CONTINUE_WORKFLOW)</a:t>
            </a:r>
            <a:endParaRPr lang="en-US" sz="1350" dirty="0"/>
          </a:p>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Request more information (REQUEST_MORE_INFORMATION)</a:t>
            </a:r>
            <a:endParaRPr lang="en-US" sz="1350" dirty="0"/>
          </a:p>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Escalate (ESCALATE)</a:t>
            </a:r>
            <a:endParaRPr lang="en-US" sz="1350" dirty="0"/>
          </a:p>
          <a:p>
            <a:pPr marL="274320" indent="-274320" algn="l">
              <a:lnSpc>
                <a:spcPct val="129000"/>
              </a:lnSpc>
              <a:buSzPct val="100000"/>
              <a:buChar char="•"/>
            </a:pPr>
            <a:r>
              <a:rPr lang="en-US" sz="1350" dirty="0">
                <a:solidFill>
                  <a:srgbClr val="5B5F71"/>
                </a:solidFill>
                <a:latin typeface="Instrument Sans Medium" pitchFamily="34" charset="0"/>
                <a:ea typeface="Instrument Sans Medium" pitchFamily="34" charset="-122"/>
                <a:cs typeface="Instrument Sans Medium" pitchFamily="34" charset="-120"/>
              </a:rPr>
              <a:t>Close case (CLOSE_CASE)</a:t>
            </a:r>
            <a:endParaRPr lang="en-US" sz="1350" dirty="0"/>
          </a:p>
        </p:txBody>
      </p:sp>
      <p:sp>
        <p:nvSpPr>
          <p:cNvPr id="9" name="Shape 5"/>
          <p:cNvSpPr/>
          <p:nvPr/>
        </p:nvSpPr>
        <p:spPr>
          <a:xfrm>
            <a:off x="6077691" y="1045865"/>
            <a:ext cx="5586273" cy="4698603"/>
          </a:xfrm>
          <a:prstGeom prst="roundRect">
            <a:avLst>
              <a:gd name="adj" fmla="val 2715"/>
            </a:avLst>
          </a:prstGeom>
          <a:solidFill>
            <a:srgbClr val="FFFFFF">
              <a:alpha val="95000"/>
            </a:srgbClr>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6254891" y="1232694"/>
            <a:ext cx="5231872" cy="2966541"/>
          </a:xfrm>
          <a:prstGeom prst="rect">
            <a:avLst/>
          </a:prstGeom>
        </p:spPr>
      </p:pic>
      <p:sp>
        <p:nvSpPr>
          <p:cNvPr id="11" name="Text 6"/>
          <p:cNvSpPr/>
          <p:nvPr/>
        </p:nvSpPr>
        <p:spPr>
          <a:xfrm>
            <a:off x="6254891" y="4386064"/>
            <a:ext cx="5231872"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4D4D4D"/>
                </a:solidFill>
                <a:latin typeface="Instrument Sans Medium" pitchFamily="34" charset="0"/>
                <a:ea typeface="Instrument Sans Medium" pitchFamily="34" charset="-122"/>
                <a:cs typeface="Instrument Sans Medium" pitchFamily="34" charset="-120"/>
              </a:rPr>
              <a:t>Real Human Review form — synthetic data. Workflow decision control shown.</a:t>
            </a:r>
            <a:endParaRPr lang="en-US" sz="1350" dirty="0"/>
          </a:p>
        </p:txBody>
      </p:sp>
      <p:sp>
        <p:nvSpPr>
          <p:cNvPr id="12" name="Text 7"/>
          <p:cNvSpPr/>
          <p:nvPr/>
        </p:nvSpPr>
        <p:spPr>
          <a:xfrm>
            <a:off x="356682" y="5931297"/>
            <a:ext cx="11478330" cy="274638"/>
          </a:xfrm>
          <a:prstGeom prst="rect">
            <a:avLst/>
          </a:prstGeom>
          <a:noFill/>
          <a:ln/>
        </p:spPr>
        <p:txBody>
          <a:bodyPr wrap="none" lIns="0" tIns="0" rIns="0" bIns="0" rtlCol="0" anchor="t"/>
          <a:lstStyle/>
          <a:p>
            <a:pPr marL="0" indent="0" algn="ctr">
              <a:lnSpc>
                <a:spcPct val="129000"/>
              </a:lnSpc>
              <a:buNone/>
            </a:pPr>
            <a:r>
              <a:rPr lang="en-US" sz="1350" b="1" dirty="0">
                <a:solidFill>
                  <a:srgbClr val="5B5F71"/>
                </a:solidFill>
                <a:latin typeface="Instrument Sans Bold" pitchFamily="34" charset="0"/>
                <a:ea typeface="Instrument Sans Bold" pitchFamily="34" charset="-122"/>
                <a:cs typeface="Instrument Sans Bold" pitchFamily="34" charset="-120"/>
              </a:rPr>
              <a:t>AI does not approve or deny care. Human reviewers select workflow actions, not clinical decisions.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29950"/>
            <a:ext cx="10868745" cy="354409"/>
          </a:xfrm>
          <a:prstGeom prst="rect">
            <a:avLst/>
          </a:prstGeom>
          <a:noFill/>
          <a:ln/>
        </p:spPr>
        <p:txBody>
          <a:bodyPr wrap="none" lIns="0" tIns="0" rIns="0" bIns="0" rtlCol="0" anchor="t"/>
          <a:lstStyle/>
          <a:p>
            <a:pPr marL="0" indent="0" algn="l">
              <a:lnSpc>
                <a:spcPct val="104000"/>
              </a:lnSpc>
              <a:buNone/>
            </a:pPr>
            <a:r>
              <a:rPr lang="en-US" sz="2200" dirty="0">
                <a:solidFill>
                  <a:srgbClr val="505468"/>
                </a:solidFill>
                <a:latin typeface="Instrument Sans SemiBold" pitchFamily="34" charset="0"/>
                <a:ea typeface="Instrument Sans SemiBold" pitchFamily="34" charset="-122"/>
                <a:cs typeface="Instrument Sans SemiBold" pitchFamily="34" charset="-120"/>
              </a:rPr>
              <a:t>Real Local Run: Review, Resume, Revalidate</a:t>
            </a:r>
            <a:endParaRPr lang="en-US" sz="2200" dirty="0"/>
          </a:p>
        </p:txBody>
      </p:sp>
      <p:sp>
        <p:nvSpPr>
          <p:cNvPr id="3" name="Shape 1"/>
          <p:cNvSpPr/>
          <p:nvPr/>
        </p:nvSpPr>
        <p:spPr>
          <a:xfrm>
            <a:off x="661475" y="1449388"/>
            <a:ext cx="2022524" cy="567035"/>
          </a:xfrm>
          <a:prstGeom prst="roundRect">
            <a:avLst>
              <a:gd name="adj" fmla="val 49999"/>
            </a:avLst>
          </a:prstGeom>
          <a:solidFill>
            <a:srgbClr val="E2E3E9"/>
          </a:solidFill>
          <a:ln w="6350">
            <a:solidFill>
              <a:srgbClr val="C8C9CF"/>
            </a:solidFill>
            <a:prstDash val="solid"/>
          </a:ln>
        </p:spPr>
        <p:txBody>
          <a:bodyPr/>
          <a:lstStyle/>
          <a:p>
            <a:endParaRPr lang="en-US"/>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31006" y="1591072"/>
            <a:ext cx="283461" cy="283468"/>
          </a:xfrm>
          <a:prstGeom prst="rect">
            <a:avLst/>
          </a:prstGeom>
        </p:spPr>
      </p:pic>
      <p:sp>
        <p:nvSpPr>
          <p:cNvPr id="5" name="Text 2"/>
          <p:cNvSpPr/>
          <p:nvPr/>
        </p:nvSpPr>
        <p:spPr>
          <a:xfrm>
            <a:off x="850482" y="2205434"/>
            <a:ext cx="1644510" cy="302419"/>
          </a:xfrm>
          <a:prstGeom prst="rect">
            <a:avLst/>
          </a:prstGeom>
          <a:noFill/>
          <a:ln/>
        </p:spPr>
        <p:txBody>
          <a:bodyPr wrap="none" lIns="0" tIns="0" rIns="0" bIns="0" rtlCol="0" anchor="t"/>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Mismatch</a:t>
            </a:r>
            <a:endParaRPr lang="en-US" sz="1450" dirty="0"/>
          </a:p>
        </p:txBody>
      </p:sp>
      <p:sp>
        <p:nvSpPr>
          <p:cNvPr id="6" name="Shape 3"/>
          <p:cNvSpPr/>
          <p:nvPr/>
        </p:nvSpPr>
        <p:spPr>
          <a:xfrm>
            <a:off x="2873005" y="1449388"/>
            <a:ext cx="2022524" cy="567035"/>
          </a:xfrm>
          <a:prstGeom prst="roundRect">
            <a:avLst>
              <a:gd name="adj" fmla="val 49999"/>
            </a:avLst>
          </a:prstGeom>
          <a:solidFill>
            <a:srgbClr val="E2E3E9"/>
          </a:solidFill>
          <a:ln w="6350">
            <a:solidFill>
              <a:srgbClr val="C8C9CF"/>
            </a:solidFill>
            <a:prstDash val="solid"/>
          </a:ln>
        </p:spPr>
        <p:txBody>
          <a:bodyPr/>
          <a:lstStyle/>
          <a:p>
            <a:endParaRPr lang="en-US"/>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42537" y="1591072"/>
            <a:ext cx="283461" cy="283468"/>
          </a:xfrm>
          <a:prstGeom prst="rect">
            <a:avLst/>
          </a:prstGeom>
        </p:spPr>
      </p:pic>
      <p:sp>
        <p:nvSpPr>
          <p:cNvPr id="8" name="Text 4"/>
          <p:cNvSpPr/>
          <p:nvPr/>
        </p:nvSpPr>
        <p:spPr>
          <a:xfrm>
            <a:off x="3062012" y="2205434"/>
            <a:ext cx="1644510" cy="302419"/>
          </a:xfrm>
          <a:prstGeom prst="rect">
            <a:avLst/>
          </a:prstGeom>
          <a:noFill/>
          <a:ln/>
        </p:spPr>
        <p:txBody>
          <a:bodyPr wrap="none" lIns="0" tIns="0" rIns="0" bIns="0" rtlCol="0" anchor="t"/>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Human Review</a:t>
            </a:r>
            <a:endParaRPr lang="en-US" sz="1450" dirty="0"/>
          </a:p>
        </p:txBody>
      </p:sp>
      <p:sp>
        <p:nvSpPr>
          <p:cNvPr id="9" name="Shape 5"/>
          <p:cNvSpPr/>
          <p:nvPr/>
        </p:nvSpPr>
        <p:spPr>
          <a:xfrm>
            <a:off x="5084536" y="1449388"/>
            <a:ext cx="2022524" cy="567035"/>
          </a:xfrm>
          <a:prstGeom prst="roundRect">
            <a:avLst>
              <a:gd name="adj" fmla="val 49999"/>
            </a:avLst>
          </a:prstGeom>
          <a:solidFill>
            <a:srgbClr val="E2E3E9"/>
          </a:solidFill>
          <a:ln w="6350">
            <a:solidFill>
              <a:srgbClr val="C8C9CF"/>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54067" y="1591072"/>
            <a:ext cx="283461" cy="283468"/>
          </a:xfrm>
          <a:prstGeom prst="rect">
            <a:avLst/>
          </a:prstGeom>
        </p:spPr>
      </p:pic>
      <p:sp>
        <p:nvSpPr>
          <p:cNvPr id="11" name="Text 6"/>
          <p:cNvSpPr/>
          <p:nvPr/>
        </p:nvSpPr>
        <p:spPr>
          <a:xfrm>
            <a:off x="5273543" y="2205434"/>
            <a:ext cx="1644510" cy="302419"/>
          </a:xfrm>
          <a:prstGeom prst="rect">
            <a:avLst/>
          </a:prstGeom>
          <a:noFill/>
          <a:ln/>
        </p:spPr>
        <p:txBody>
          <a:bodyPr wrap="none" lIns="0" tIns="0" rIns="0" bIns="0" rtlCol="0" anchor="t"/>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Record Action</a:t>
            </a:r>
            <a:endParaRPr lang="en-US" sz="1450" dirty="0"/>
          </a:p>
        </p:txBody>
      </p:sp>
      <p:sp>
        <p:nvSpPr>
          <p:cNvPr id="12" name="Shape 7"/>
          <p:cNvSpPr/>
          <p:nvPr/>
        </p:nvSpPr>
        <p:spPr>
          <a:xfrm>
            <a:off x="7296067" y="1449388"/>
            <a:ext cx="2022524" cy="567035"/>
          </a:xfrm>
          <a:prstGeom prst="roundRect">
            <a:avLst>
              <a:gd name="adj" fmla="val 49999"/>
            </a:avLst>
          </a:prstGeom>
          <a:solidFill>
            <a:srgbClr val="E2E3E9"/>
          </a:solidFill>
          <a:ln w="6350">
            <a:solidFill>
              <a:srgbClr val="C8C9CF"/>
            </a:solidFill>
            <a:prstDash val="solid"/>
          </a:ln>
        </p:spPr>
        <p:txBody>
          <a:bodyPr/>
          <a:lstStyle/>
          <a:p>
            <a:endParaRPr lang="en-US"/>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8" y="1591072"/>
            <a:ext cx="283461" cy="283468"/>
          </a:xfrm>
          <a:prstGeom prst="rect">
            <a:avLst/>
          </a:prstGeom>
        </p:spPr>
      </p:pic>
      <p:sp>
        <p:nvSpPr>
          <p:cNvPr id="14" name="Text 8"/>
          <p:cNvSpPr/>
          <p:nvPr/>
        </p:nvSpPr>
        <p:spPr>
          <a:xfrm>
            <a:off x="7485074" y="2205434"/>
            <a:ext cx="1644510" cy="302419"/>
          </a:xfrm>
          <a:prstGeom prst="rect">
            <a:avLst/>
          </a:prstGeom>
          <a:noFill/>
          <a:ln/>
        </p:spPr>
        <p:txBody>
          <a:bodyPr wrap="none" lIns="0" tIns="0" rIns="0" bIns="0" rtlCol="0" anchor="t"/>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Pending Resume</a:t>
            </a:r>
            <a:endParaRPr lang="en-US" sz="1450" dirty="0"/>
          </a:p>
        </p:txBody>
      </p:sp>
      <p:sp>
        <p:nvSpPr>
          <p:cNvPr id="15" name="Shape 9"/>
          <p:cNvSpPr/>
          <p:nvPr/>
        </p:nvSpPr>
        <p:spPr>
          <a:xfrm>
            <a:off x="9507597" y="1449388"/>
            <a:ext cx="2022623" cy="567035"/>
          </a:xfrm>
          <a:prstGeom prst="roundRect">
            <a:avLst>
              <a:gd name="adj" fmla="val 49999"/>
            </a:avLst>
          </a:prstGeom>
          <a:solidFill>
            <a:srgbClr val="E2E3E9"/>
          </a:solidFill>
          <a:ln w="6350">
            <a:solidFill>
              <a:srgbClr val="C8C9CF"/>
            </a:solidFill>
            <a:prstDash val="solid"/>
          </a:ln>
        </p:spPr>
        <p:txBody>
          <a:bodyPr/>
          <a:lstStyle/>
          <a:p>
            <a:endParaRPr lang="en-US"/>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377129" y="1591072"/>
            <a:ext cx="283461" cy="283468"/>
          </a:xfrm>
          <a:prstGeom prst="rect">
            <a:avLst/>
          </a:prstGeom>
        </p:spPr>
      </p:pic>
      <p:sp>
        <p:nvSpPr>
          <p:cNvPr id="17" name="Text 10"/>
          <p:cNvSpPr/>
          <p:nvPr/>
        </p:nvSpPr>
        <p:spPr>
          <a:xfrm>
            <a:off x="9696604" y="2205434"/>
            <a:ext cx="164460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Revalidate → Human Review</a:t>
            </a:r>
            <a:endParaRPr lang="en-US" sz="1450" dirty="0"/>
          </a:p>
        </p:txBody>
      </p:sp>
      <p:sp>
        <p:nvSpPr>
          <p:cNvPr id="18" name="Text 11"/>
          <p:cNvSpPr/>
          <p:nvPr/>
        </p:nvSpPr>
        <p:spPr>
          <a:xfrm>
            <a:off x="356682" y="3381970"/>
            <a:ext cx="5813379" cy="302419"/>
          </a:xfrm>
          <a:prstGeom prst="rect">
            <a:avLst/>
          </a:prstGeom>
          <a:noFill/>
          <a:ln/>
        </p:spPr>
        <p:txBody>
          <a:bodyPr wrap="none" lIns="0" tIns="0" rIns="0" bIns="0" rtlCol="0" anchor="t"/>
          <a:lstStyle/>
          <a:p>
            <a:pPr marL="0" indent="0" algn="ctr">
              <a:lnSpc>
                <a:spcPct val="133000"/>
              </a:lnSpc>
              <a:buNone/>
            </a:pPr>
            <a:r>
              <a:rPr lang="en-US" sz="1450" b="1" dirty="0">
                <a:solidFill>
                  <a:srgbClr val="5B5F71"/>
                </a:solidFill>
                <a:latin typeface="Instrument Sans Bold" pitchFamily="34" charset="0"/>
                <a:ea typeface="Instrument Sans Bold" pitchFamily="34" charset="-122"/>
                <a:cs typeface="Instrument Sans Bold" pitchFamily="34" charset="-120"/>
              </a:rPr>
              <a:t>Before Resume — PENDING_RESUME</a:t>
            </a:r>
            <a:endParaRPr lang="en-US" sz="1450" dirty="0"/>
          </a:p>
        </p:txBody>
      </p:sp>
      <p:pic>
        <p:nvPicPr>
          <p:cNvPr id="19" name="Image 5" descr="preencoded.png"/>
          <p:cNvPicPr>
            <a:picLocks noChangeAspect="1"/>
          </p:cNvPicPr>
          <p:nvPr/>
        </p:nvPicPr>
        <p:blipFill>
          <a:blip r:embed="rId8"/>
          <a:stretch>
            <a:fillRect/>
          </a:stretch>
        </p:blipFill>
        <p:spPr>
          <a:xfrm>
            <a:off x="661475" y="3897015"/>
            <a:ext cx="2598970" cy="1487190"/>
          </a:xfrm>
          <a:prstGeom prst="rect">
            <a:avLst/>
          </a:prstGeom>
        </p:spPr>
      </p:pic>
      <p:sp>
        <p:nvSpPr>
          <p:cNvPr id="20" name="Text 12"/>
          <p:cNvSpPr/>
          <p:nvPr/>
        </p:nvSpPr>
        <p:spPr>
          <a:xfrm>
            <a:off x="6027984" y="3381970"/>
            <a:ext cx="5813379" cy="302419"/>
          </a:xfrm>
          <a:prstGeom prst="rect">
            <a:avLst/>
          </a:prstGeom>
          <a:noFill/>
          <a:ln/>
        </p:spPr>
        <p:txBody>
          <a:bodyPr wrap="none" lIns="0" tIns="0" rIns="0" bIns="0" rtlCol="0" anchor="t"/>
          <a:lstStyle/>
          <a:p>
            <a:pPr marL="0" indent="0" algn="ctr">
              <a:lnSpc>
                <a:spcPct val="133000"/>
              </a:lnSpc>
              <a:buNone/>
            </a:pPr>
            <a:r>
              <a:rPr lang="en-US" sz="1450" b="1" dirty="0">
                <a:solidFill>
                  <a:srgbClr val="5B5F71"/>
                </a:solidFill>
                <a:latin typeface="Instrument Sans Bold" pitchFamily="34" charset="0"/>
                <a:ea typeface="Instrument Sans Bold" pitchFamily="34" charset="-122"/>
                <a:cs typeface="Instrument Sans Bold" pitchFamily="34" charset="-120"/>
              </a:rPr>
              <a:t>After Resume — HUMAN_REVIEW_REQUIRED</a:t>
            </a:r>
            <a:endParaRPr lang="en-US" sz="1450" dirty="0"/>
          </a:p>
        </p:txBody>
      </p:sp>
      <p:pic>
        <p:nvPicPr>
          <p:cNvPr id="21" name="Image 6" descr="preencoded.png"/>
          <p:cNvPicPr>
            <a:picLocks noChangeAspect="1"/>
          </p:cNvPicPr>
          <p:nvPr/>
        </p:nvPicPr>
        <p:blipFill>
          <a:blip r:embed="rId9"/>
          <a:stretch>
            <a:fillRect/>
          </a:stretch>
        </p:blipFill>
        <p:spPr>
          <a:xfrm>
            <a:off x="6332776" y="3897015"/>
            <a:ext cx="2598970" cy="1516261"/>
          </a:xfrm>
          <a:prstGeom prst="rect">
            <a:avLst/>
          </a:prstGeom>
        </p:spPr>
      </p:pic>
      <p:sp>
        <p:nvSpPr>
          <p:cNvPr id="22" name="Text 13"/>
          <p:cNvSpPr/>
          <p:nvPr/>
        </p:nvSpPr>
        <p:spPr>
          <a:xfrm>
            <a:off x="356682" y="5838527"/>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4D4D4D"/>
                </a:solidFill>
                <a:latin typeface="Instrument Sans Medium" pitchFamily="34" charset="0"/>
                <a:ea typeface="Instrument Sans Medium" pitchFamily="34" charset="-122"/>
                <a:cs typeface="Instrument Sans Medium" pitchFamily="34" charset="-120"/>
              </a:rPr>
              <a:t>Same trace ID. Evidence checked again. Unresolved mismatch returns to Human Review.</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44254"/>
            <a:ext cx="10868745" cy="563066"/>
          </a:xfrm>
          <a:prstGeom prst="rect">
            <a:avLst/>
          </a:prstGeom>
          <a:noFill/>
          <a:ln/>
        </p:spPr>
        <p:txBody>
          <a:bodyPr wrap="none" lIns="0" tIns="0" rIns="0" bIns="0" rtlCol="0" anchor="t"/>
          <a:lstStyle/>
          <a:p>
            <a:pPr marL="0" indent="0" algn="l">
              <a:lnSpc>
                <a:spcPct val="104000"/>
              </a:lnSpc>
              <a:buNone/>
            </a:pPr>
            <a:r>
              <a:rPr lang="en-US" sz="3500" dirty="0">
                <a:solidFill>
                  <a:srgbClr val="505468"/>
                </a:solidFill>
                <a:latin typeface="Instrument Sans SemiBold" pitchFamily="34" charset="0"/>
                <a:ea typeface="Instrument Sans SemiBold" pitchFamily="34" charset="-122"/>
                <a:cs typeface="Instrument Sans SemiBold" pitchFamily="34" charset="-120"/>
              </a:rPr>
              <a:t>Traceable Workflow Events — Application View</a:t>
            </a:r>
            <a:endParaRPr lang="en-US" sz="3500" dirty="0"/>
          </a:p>
        </p:txBody>
      </p:sp>
      <p:sp>
        <p:nvSpPr>
          <p:cNvPr id="3" name="Text 1"/>
          <p:cNvSpPr/>
          <p:nvPr/>
        </p:nvSpPr>
        <p:spPr>
          <a:xfrm>
            <a:off x="661475" y="1524367"/>
            <a:ext cx="4536069"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What Gets Recorded</a:t>
            </a:r>
            <a:endParaRPr lang="en-US" sz="1750" dirty="0"/>
          </a:p>
        </p:txBody>
      </p:sp>
      <p:sp>
        <p:nvSpPr>
          <p:cNvPr id="4" name="Shape 2"/>
          <p:cNvSpPr/>
          <p:nvPr/>
        </p:nvSpPr>
        <p:spPr>
          <a:xfrm>
            <a:off x="661475" y="1990030"/>
            <a:ext cx="2182163" cy="2271514"/>
          </a:xfrm>
          <a:prstGeom prst="roundRect">
            <a:avLst>
              <a:gd name="adj" fmla="val 3467"/>
            </a:avLst>
          </a:prstGeom>
          <a:solidFill>
            <a:srgbClr val="FFFFFF">
              <a:alpha val="95000"/>
            </a:srgbClr>
          </a:solidFill>
          <a:ln w="25399">
            <a:solidFill>
              <a:srgbClr val="C8C9CF"/>
            </a:solidFill>
            <a:prstDash val="solid"/>
          </a:ln>
        </p:spPr>
        <p:txBody>
          <a:bodyPr/>
          <a:lstStyle/>
          <a:p>
            <a:endParaRPr lang="en-US"/>
          </a:p>
        </p:txBody>
      </p:sp>
      <p:sp>
        <p:nvSpPr>
          <p:cNvPr id="5" name="Text 3"/>
          <p:cNvSpPr/>
          <p:nvPr/>
        </p:nvSpPr>
        <p:spPr>
          <a:xfrm>
            <a:off x="866952" y="2195513"/>
            <a:ext cx="1771209"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case_id</a:t>
            </a:r>
            <a:endParaRPr lang="en-US" sz="1750" dirty="0"/>
          </a:p>
        </p:txBody>
      </p:sp>
      <p:sp>
        <p:nvSpPr>
          <p:cNvPr id="6" name="Text 4"/>
          <p:cNvSpPr/>
          <p:nvPr/>
        </p:nvSpPr>
        <p:spPr>
          <a:xfrm>
            <a:off x="866952" y="2648645"/>
            <a:ext cx="1771209" cy="140741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Identifies the prior authorization case and links its related records through case_id and trace_id.</a:t>
            </a:r>
            <a:endParaRPr lang="en-US" sz="1400" dirty="0"/>
          </a:p>
        </p:txBody>
      </p:sp>
      <p:sp>
        <p:nvSpPr>
          <p:cNvPr id="7" name="Shape 5"/>
          <p:cNvSpPr/>
          <p:nvPr/>
        </p:nvSpPr>
        <p:spPr>
          <a:xfrm>
            <a:off x="3015282" y="1990030"/>
            <a:ext cx="2182262" cy="2271514"/>
          </a:xfrm>
          <a:prstGeom prst="roundRect">
            <a:avLst>
              <a:gd name="adj" fmla="val 3467"/>
            </a:avLst>
          </a:prstGeom>
          <a:solidFill>
            <a:srgbClr val="FFFFFF">
              <a:alpha val="95000"/>
            </a:srgbClr>
          </a:solidFill>
          <a:ln w="25399">
            <a:solidFill>
              <a:srgbClr val="C8C9CF"/>
            </a:solidFill>
            <a:prstDash val="solid"/>
          </a:ln>
        </p:spPr>
        <p:txBody>
          <a:bodyPr/>
          <a:lstStyle/>
          <a:p>
            <a:endParaRPr lang="en-US"/>
          </a:p>
        </p:txBody>
      </p:sp>
      <p:sp>
        <p:nvSpPr>
          <p:cNvPr id="8" name="Text 6"/>
          <p:cNvSpPr/>
          <p:nvPr/>
        </p:nvSpPr>
        <p:spPr>
          <a:xfrm>
            <a:off x="3220758" y="2195513"/>
            <a:ext cx="1771308"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trace_id</a:t>
            </a:r>
            <a:endParaRPr lang="en-US" sz="1750" dirty="0"/>
          </a:p>
        </p:txBody>
      </p:sp>
      <p:sp>
        <p:nvSpPr>
          <p:cNvPr id="9" name="Text 7"/>
          <p:cNvSpPr/>
          <p:nvPr/>
        </p:nvSpPr>
        <p:spPr>
          <a:xfrm>
            <a:off x="3220758" y="2648645"/>
            <a:ext cx="1771308" cy="112593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Identifies one workflow run. A case may have multiple runs.</a:t>
            </a:r>
            <a:endParaRPr lang="en-US" sz="1400" dirty="0"/>
          </a:p>
        </p:txBody>
      </p:sp>
      <p:sp>
        <p:nvSpPr>
          <p:cNvPr id="10" name="Shape 8"/>
          <p:cNvSpPr/>
          <p:nvPr/>
        </p:nvSpPr>
        <p:spPr>
          <a:xfrm>
            <a:off x="661475" y="4433193"/>
            <a:ext cx="4536069" cy="1708547"/>
          </a:xfrm>
          <a:prstGeom prst="roundRect">
            <a:avLst>
              <a:gd name="adj" fmla="val 4429"/>
            </a:avLst>
          </a:prstGeom>
          <a:solidFill>
            <a:srgbClr val="FFFFFF">
              <a:alpha val="95000"/>
            </a:srgbClr>
          </a:solidFill>
          <a:ln w="25399">
            <a:solidFill>
              <a:srgbClr val="C8C9CF"/>
            </a:solidFill>
            <a:prstDash val="solid"/>
          </a:ln>
        </p:spPr>
        <p:txBody>
          <a:bodyPr/>
          <a:lstStyle/>
          <a:p>
            <a:endParaRPr lang="en-US"/>
          </a:p>
        </p:txBody>
      </p:sp>
      <p:sp>
        <p:nvSpPr>
          <p:cNvPr id="11" name="Text 9"/>
          <p:cNvSpPr/>
          <p:nvPr/>
        </p:nvSpPr>
        <p:spPr>
          <a:xfrm>
            <a:off x="866952" y="4638675"/>
            <a:ext cx="4125115"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Audit Events</a:t>
            </a:r>
            <a:endParaRPr lang="en-US" sz="1750" dirty="0"/>
          </a:p>
        </p:txBody>
      </p:sp>
      <p:sp>
        <p:nvSpPr>
          <p:cNvPr id="12" name="Text 10"/>
          <p:cNvSpPr/>
          <p:nvPr/>
        </p:nvSpPr>
        <p:spPr>
          <a:xfrm>
            <a:off x="866952" y="5091807"/>
            <a:ext cx="4125115"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Application inserts a record at each key workflow transition. Database-enforced immutability has </a:t>
            </a:r>
            <a:r>
              <a:rPr lang="en-US" sz="1400" b="1" dirty="0">
                <a:solidFill>
                  <a:srgbClr val="5B5F71"/>
                </a:solidFill>
                <a:latin typeface="Instrument Sans Bold" pitchFamily="34" charset="0"/>
                <a:ea typeface="Instrument Sans Bold" pitchFamily="34" charset="-122"/>
                <a:cs typeface="Instrument Sans Bold" pitchFamily="34" charset="-120"/>
              </a:rPr>
              <a:t>not</a:t>
            </a:r>
            <a:r>
              <a:rPr lang="en-US" sz="1400" dirty="0">
                <a:solidFill>
                  <a:srgbClr val="5B5F71"/>
                </a:solidFill>
                <a:latin typeface="Instrument Sans Medium" pitchFamily="34" charset="0"/>
                <a:ea typeface="Instrument Sans Medium" pitchFamily="34" charset="-122"/>
                <a:cs typeface="Instrument Sans Medium" pitchFamily="34" charset="-120"/>
              </a:rPr>
              <a:t> been verified in Phase 1.</a:t>
            </a:r>
            <a:endParaRPr lang="en-US" sz="1400" dirty="0"/>
          </a:p>
        </p:txBody>
      </p:sp>
      <p:sp>
        <p:nvSpPr>
          <p:cNvPr id="13" name="Text 11"/>
          <p:cNvSpPr/>
          <p:nvPr/>
        </p:nvSpPr>
        <p:spPr>
          <a:xfrm>
            <a:off x="5338629" y="1498203"/>
            <a:ext cx="6502634" cy="281484"/>
          </a:xfrm>
          <a:prstGeom prst="rect">
            <a:avLst/>
          </a:prstGeom>
          <a:noFill/>
          <a:ln/>
        </p:spPr>
        <p:txBody>
          <a:bodyPr wrap="none" lIns="0" tIns="0" rIns="0" bIns="0" rtlCol="0" anchor="t"/>
          <a:lstStyle/>
          <a:p>
            <a:pPr marL="0" indent="0" algn="ctr">
              <a:lnSpc>
                <a:spcPct val="130000"/>
              </a:lnSpc>
              <a:buNone/>
            </a:pPr>
            <a:r>
              <a:rPr lang="en-US" sz="1400" b="1" dirty="0">
                <a:solidFill>
                  <a:srgbClr val="5B5F71"/>
                </a:solidFill>
                <a:latin typeface="Instrument Sans Bold" pitchFamily="34" charset="0"/>
                <a:ea typeface="Instrument Sans Bold" pitchFamily="34" charset="-122"/>
                <a:cs typeface="Instrument Sans Bold" pitchFamily="34" charset="-120"/>
              </a:rPr>
              <a:t>Application View — Audit Events</a:t>
            </a:r>
            <a:endParaRPr lang="en-US" sz="1400" dirty="0"/>
          </a:p>
        </p:txBody>
      </p:sp>
      <p:pic>
        <p:nvPicPr>
          <p:cNvPr id="14" name="Image 0" descr="preencoded.png"/>
          <p:cNvPicPr>
            <a:picLocks noChangeAspect="1"/>
          </p:cNvPicPr>
          <p:nvPr/>
        </p:nvPicPr>
        <p:blipFill>
          <a:blip r:embed="rId3"/>
          <a:stretch>
            <a:fillRect/>
          </a:stretch>
        </p:blipFill>
        <p:spPr>
          <a:xfrm>
            <a:off x="5643421" y="1972866"/>
            <a:ext cx="5893049" cy="301128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38909"/>
            <a:ext cx="10868745" cy="563066"/>
          </a:xfrm>
          <a:prstGeom prst="rect">
            <a:avLst/>
          </a:prstGeom>
          <a:noFill/>
          <a:ln/>
        </p:spPr>
        <p:txBody>
          <a:bodyPr wrap="none" lIns="0" tIns="0" rIns="0" bIns="0" rtlCol="0" anchor="t"/>
          <a:lstStyle/>
          <a:p>
            <a:pPr marL="0" indent="0" algn="l">
              <a:lnSpc>
                <a:spcPct val="104000"/>
              </a:lnSpc>
              <a:buNone/>
            </a:pPr>
            <a:r>
              <a:rPr lang="en-US" sz="3500" dirty="0">
                <a:solidFill>
                  <a:srgbClr val="505468"/>
                </a:solidFill>
                <a:latin typeface="Instrument Sans SemiBold" pitchFamily="34" charset="0"/>
                <a:ea typeface="Instrument Sans SemiBold" pitchFamily="34" charset="-122"/>
                <a:cs typeface="Instrument Sans SemiBold" pitchFamily="34" charset="-120"/>
              </a:rPr>
              <a:t>SQL Server — Direct Database Verification</a:t>
            </a:r>
            <a:endParaRPr lang="en-US" sz="3500" dirty="0"/>
          </a:p>
        </p:txBody>
      </p:sp>
      <p:sp>
        <p:nvSpPr>
          <p:cNvPr id="3" name="Text 1"/>
          <p:cNvSpPr/>
          <p:nvPr/>
        </p:nvSpPr>
        <p:spPr>
          <a:xfrm>
            <a:off x="661425" y="1260260"/>
            <a:ext cx="10868745" cy="337840"/>
          </a:xfrm>
          <a:prstGeom prst="rect">
            <a:avLst/>
          </a:prstGeom>
          <a:noFill/>
          <a:ln/>
        </p:spPr>
        <p:txBody>
          <a:bodyPr wrap="none" lIns="0" tIns="0" rIns="0" bIns="0" rtlCol="0" anchor="t"/>
          <a:lstStyle/>
          <a:p>
            <a:pPr marL="0" indent="0" algn="ctr">
              <a:lnSpc>
                <a:spcPct val="104000"/>
              </a:lnSpc>
              <a:buNone/>
            </a:pPr>
            <a:r>
              <a:rPr lang="en-US" sz="2100" dirty="0">
                <a:solidFill>
                  <a:srgbClr val="505468"/>
                </a:solidFill>
                <a:latin typeface="Instrument Sans SemiBold" pitchFamily="34" charset="0"/>
                <a:ea typeface="Instrument Sans SemiBold" pitchFamily="34" charset="-122"/>
                <a:cs typeface="Instrument Sans SemiBold" pitchFamily="34" charset="-120"/>
              </a:rPr>
              <a:t>Database View — Direct SQL Verification</a:t>
            </a:r>
            <a:endParaRPr lang="en-US" sz="2100" dirty="0"/>
          </a:p>
        </p:txBody>
      </p:sp>
      <p:pic>
        <p:nvPicPr>
          <p:cNvPr id="4" name="Image 0" descr="preencoded.png"/>
          <p:cNvPicPr>
            <a:picLocks noChangeAspect="1"/>
          </p:cNvPicPr>
          <p:nvPr/>
        </p:nvPicPr>
        <p:blipFill>
          <a:blip r:embed="rId3"/>
          <a:stretch>
            <a:fillRect/>
          </a:stretch>
        </p:blipFill>
        <p:spPr>
          <a:xfrm>
            <a:off x="1717037" y="1844873"/>
            <a:ext cx="8757622" cy="3504605"/>
          </a:xfrm>
          <a:prstGeom prst="rect">
            <a:avLst/>
          </a:prstGeom>
        </p:spPr>
      </p:pic>
      <p:sp>
        <p:nvSpPr>
          <p:cNvPr id="5" name="Shape 2"/>
          <p:cNvSpPr/>
          <p:nvPr/>
        </p:nvSpPr>
        <p:spPr>
          <a:xfrm>
            <a:off x="661475" y="5542657"/>
            <a:ext cx="10868745" cy="697508"/>
          </a:xfrm>
          <a:prstGeom prst="roundRect">
            <a:avLst>
              <a:gd name="adj" fmla="val 10848"/>
            </a:avLst>
          </a:prstGeom>
          <a:solidFill>
            <a:srgbClr val="F4F4F5"/>
          </a:solidFill>
          <a:ln/>
        </p:spPr>
        <p:txBody>
          <a:bodyPr/>
          <a:lstStyle/>
          <a:p>
            <a:endParaRPr lang="en-US"/>
          </a:p>
        </p:txBody>
      </p:sp>
      <p:pic>
        <p:nvPicPr>
          <p:cNvPr id="6" name="Image 1" descr="preencoded.png"/>
          <p:cNvPicPr>
            <a:picLocks noChangeAspect="1"/>
          </p:cNvPicPr>
          <p:nvPr/>
        </p:nvPicPr>
        <p:blipFill>
          <a:blip r:embed="rId4"/>
          <a:stretch>
            <a:fillRect/>
          </a:stretch>
        </p:blipFill>
        <p:spPr>
          <a:xfrm>
            <a:off x="841552" y="5785743"/>
            <a:ext cx="225122" cy="180082"/>
          </a:xfrm>
          <a:prstGeom prst="rect">
            <a:avLst/>
          </a:prstGeom>
        </p:spPr>
      </p:pic>
      <p:sp>
        <p:nvSpPr>
          <p:cNvPr id="7" name="Text 3"/>
          <p:cNvSpPr/>
          <p:nvPr/>
        </p:nvSpPr>
        <p:spPr>
          <a:xfrm>
            <a:off x="1246752" y="5759252"/>
            <a:ext cx="10712976" cy="281484"/>
          </a:xfrm>
          <a:prstGeom prst="rect">
            <a:avLst/>
          </a:prstGeom>
          <a:noFill/>
          <a:ln/>
        </p:spPr>
        <p:txBody>
          <a:bodyPr wrap="none" lIns="0" tIns="0" rIns="0" bIns="0" rtlCol="0" anchor="t"/>
          <a:lstStyle/>
          <a:p>
            <a:pPr marL="0" indent="0" algn="l">
              <a:lnSpc>
                <a:spcPct val="130000"/>
              </a:lnSpc>
              <a:buNone/>
            </a:pPr>
            <a:r>
              <a:rPr lang="en-US" sz="1400" dirty="0">
                <a:solidFill>
                  <a:srgbClr val="000000"/>
                </a:solidFill>
                <a:latin typeface="Instrument Sans Medium" pitchFamily="34" charset="0"/>
                <a:ea typeface="Instrument Sans Medium" pitchFamily="34" charset="-122"/>
                <a:cs typeface="Instrument Sans Medium" pitchFamily="34" charset="-120"/>
              </a:rPr>
              <a:t>SQL persistence confirms that data was saved. It does not by itself prove that a specific HTTP refresh request succeeded.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42420"/>
            <a:ext cx="10868745" cy="544513"/>
          </a:xfrm>
          <a:prstGeom prst="rect">
            <a:avLst/>
          </a:prstGeom>
          <a:noFill/>
          <a:ln/>
        </p:spPr>
        <p:txBody>
          <a:bodyPr wrap="none" lIns="0" tIns="0" rIns="0" bIns="0" rtlCol="0" anchor="t"/>
          <a:lstStyle/>
          <a:p>
            <a:pPr marL="0" indent="0" algn="l">
              <a:lnSpc>
                <a:spcPct val="104000"/>
              </a:lnSpc>
              <a:buNone/>
            </a:pPr>
            <a:r>
              <a:rPr lang="en-US" sz="3400" dirty="0">
                <a:solidFill>
                  <a:srgbClr val="505468"/>
                </a:solidFill>
                <a:latin typeface="Instrument Sans SemiBold" pitchFamily="34" charset="0"/>
                <a:ea typeface="Instrument Sans SemiBold" pitchFamily="34" charset="-122"/>
                <a:cs typeface="Instrument Sans SemiBold" pitchFamily="34" charset="-120"/>
              </a:rPr>
              <a:t>Automated Tests and Real Local Validation</a:t>
            </a:r>
            <a:endParaRPr lang="en-US" sz="3400" dirty="0"/>
          </a:p>
        </p:txBody>
      </p:sp>
      <p:sp>
        <p:nvSpPr>
          <p:cNvPr id="3" name="Text 1"/>
          <p:cNvSpPr/>
          <p:nvPr/>
        </p:nvSpPr>
        <p:spPr>
          <a:xfrm>
            <a:off x="661475" y="1136645"/>
            <a:ext cx="10868745" cy="272157"/>
          </a:xfrm>
          <a:prstGeom prst="rect">
            <a:avLst/>
          </a:prstGeom>
          <a:noFill/>
          <a:ln/>
        </p:spPr>
        <p:txBody>
          <a:bodyPr wrap="none" lIns="0" tIns="0" rIns="0" bIns="0" rtlCol="0" anchor="t"/>
          <a:lstStyle/>
          <a:p>
            <a:pPr marL="0" indent="0" algn="l">
              <a:lnSpc>
                <a:spcPct val="104000"/>
              </a:lnSpc>
              <a:buNone/>
            </a:pPr>
            <a:r>
              <a:rPr lang="en-US" sz="1700" dirty="0">
                <a:solidFill>
                  <a:srgbClr val="505468"/>
                </a:solidFill>
                <a:latin typeface="Instrument Sans SemiBold" pitchFamily="34" charset="0"/>
                <a:ea typeface="Instrument Sans SemiBold" pitchFamily="34" charset="-122"/>
                <a:cs typeface="Instrument Sans SemiBold" pitchFamily="34" charset="-120"/>
              </a:rPr>
              <a:t>Prior Automated Test Baseline</a:t>
            </a:r>
            <a:endParaRPr lang="en-US" sz="1700" dirty="0"/>
          </a:p>
        </p:txBody>
      </p:sp>
      <p:sp>
        <p:nvSpPr>
          <p:cNvPr id="4" name="Text 2"/>
          <p:cNvSpPr/>
          <p:nvPr/>
        </p:nvSpPr>
        <p:spPr>
          <a:xfrm>
            <a:off x="661475" y="1728688"/>
            <a:ext cx="3489039" cy="575072"/>
          </a:xfrm>
          <a:prstGeom prst="rect">
            <a:avLst/>
          </a:prstGeom>
          <a:noFill/>
          <a:ln/>
        </p:spPr>
        <p:txBody>
          <a:bodyPr wrap="none" lIns="0" tIns="0" rIns="0" bIns="0" rtlCol="0" anchor="t"/>
          <a:lstStyle/>
          <a:p>
            <a:pPr marL="0" indent="0" algn="ctr">
              <a:lnSpc>
                <a:spcPct val="83000"/>
              </a:lnSpc>
              <a:buNone/>
            </a:pPr>
            <a:r>
              <a:rPr lang="en-US" sz="4500" dirty="0">
                <a:solidFill>
                  <a:srgbClr val="5B5F71"/>
                </a:solidFill>
                <a:latin typeface="Instrument Sans SemiBold" pitchFamily="34" charset="0"/>
                <a:ea typeface="Instrument Sans SemiBold" pitchFamily="34" charset="-122"/>
                <a:cs typeface="Instrument Sans SemiBold" pitchFamily="34" charset="-120"/>
              </a:rPr>
              <a:t>650</a:t>
            </a:r>
            <a:endParaRPr lang="en-US" sz="4500" dirty="0"/>
          </a:p>
        </p:txBody>
      </p:sp>
      <p:sp>
        <p:nvSpPr>
          <p:cNvPr id="5" name="Text 3"/>
          <p:cNvSpPr/>
          <p:nvPr/>
        </p:nvSpPr>
        <p:spPr>
          <a:xfrm>
            <a:off x="661425" y="2511326"/>
            <a:ext cx="3489039" cy="272157"/>
          </a:xfrm>
          <a:prstGeom prst="rect">
            <a:avLst/>
          </a:prstGeom>
          <a:noFill/>
          <a:ln/>
        </p:spPr>
        <p:txBody>
          <a:bodyPr wrap="none" lIns="0" tIns="0" rIns="0" bIns="0" rtlCol="0" anchor="t"/>
          <a:lstStyle/>
          <a:p>
            <a:pPr marL="0" indent="0" algn="ctr">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Tests Passed</a:t>
            </a:r>
            <a:endParaRPr lang="en-US" sz="1700" dirty="0"/>
          </a:p>
        </p:txBody>
      </p:sp>
      <p:sp>
        <p:nvSpPr>
          <p:cNvPr id="6" name="Text 4"/>
          <p:cNvSpPr/>
          <p:nvPr/>
        </p:nvSpPr>
        <p:spPr>
          <a:xfrm>
            <a:off x="661475" y="2879824"/>
            <a:ext cx="3489039" cy="214313"/>
          </a:xfrm>
          <a:prstGeom prst="rect">
            <a:avLst/>
          </a:prstGeom>
          <a:noFill/>
          <a:ln/>
        </p:spPr>
        <p:txBody>
          <a:bodyPr wrap="none" lIns="0" tIns="0" rIns="0" bIns="0" rtlCol="0" anchor="t"/>
          <a:lstStyle/>
          <a:p>
            <a:pPr marL="0" indent="0" algn="ctr">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Covering implemented scenarios</a:t>
            </a:r>
            <a:endParaRPr lang="en-US" sz="1050" dirty="0"/>
          </a:p>
        </p:txBody>
      </p:sp>
      <p:sp>
        <p:nvSpPr>
          <p:cNvPr id="7" name="Text 5"/>
          <p:cNvSpPr/>
          <p:nvPr/>
        </p:nvSpPr>
        <p:spPr>
          <a:xfrm>
            <a:off x="4351229" y="1728688"/>
            <a:ext cx="3489138" cy="575072"/>
          </a:xfrm>
          <a:prstGeom prst="rect">
            <a:avLst/>
          </a:prstGeom>
          <a:noFill/>
          <a:ln/>
        </p:spPr>
        <p:txBody>
          <a:bodyPr wrap="none" lIns="0" tIns="0" rIns="0" bIns="0" rtlCol="0" anchor="t"/>
          <a:lstStyle/>
          <a:p>
            <a:pPr marL="0" indent="0" algn="ctr">
              <a:lnSpc>
                <a:spcPct val="83000"/>
              </a:lnSpc>
              <a:buNone/>
            </a:pPr>
            <a:r>
              <a:rPr lang="en-US" sz="4500" dirty="0">
                <a:solidFill>
                  <a:srgbClr val="5B5F71"/>
                </a:solidFill>
                <a:latin typeface="Instrument Sans SemiBold" pitchFamily="34" charset="0"/>
                <a:ea typeface="Instrument Sans SemiBold" pitchFamily="34" charset="-122"/>
                <a:cs typeface="Instrument Sans SemiBold" pitchFamily="34" charset="-120"/>
              </a:rPr>
              <a:t>4</a:t>
            </a:r>
            <a:endParaRPr lang="en-US" sz="4500" dirty="0"/>
          </a:p>
        </p:txBody>
      </p:sp>
      <p:sp>
        <p:nvSpPr>
          <p:cNvPr id="8" name="Text 6"/>
          <p:cNvSpPr/>
          <p:nvPr/>
        </p:nvSpPr>
        <p:spPr>
          <a:xfrm>
            <a:off x="4351229" y="2511326"/>
            <a:ext cx="3489138" cy="272157"/>
          </a:xfrm>
          <a:prstGeom prst="rect">
            <a:avLst/>
          </a:prstGeom>
          <a:noFill/>
          <a:ln/>
        </p:spPr>
        <p:txBody>
          <a:bodyPr wrap="none" lIns="0" tIns="0" rIns="0" bIns="0" rtlCol="0" anchor="t"/>
          <a:lstStyle/>
          <a:p>
            <a:pPr marL="0" indent="0" algn="ctr">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Tests Skipped</a:t>
            </a:r>
            <a:endParaRPr lang="en-US" sz="1700" dirty="0"/>
          </a:p>
        </p:txBody>
      </p:sp>
      <p:sp>
        <p:nvSpPr>
          <p:cNvPr id="9" name="Text 7"/>
          <p:cNvSpPr/>
          <p:nvPr/>
        </p:nvSpPr>
        <p:spPr>
          <a:xfrm>
            <a:off x="4351229" y="2879824"/>
            <a:ext cx="3489138" cy="214313"/>
          </a:xfrm>
          <a:prstGeom prst="rect">
            <a:avLst/>
          </a:prstGeom>
          <a:noFill/>
          <a:ln/>
        </p:spPr>
        <p:txBody>
          <a:bodyPr wrap="none" lIns="0" tIns="0" rIns="0" bIns="0" rtlCol="0" anchor="t"/>
          <a:lstStyle/>
          <a:p>
            <a:pPr marL="0" indent="0" algn="ctr">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Not executed in that test run</a:t>
            </a:r>
            <a:endParaRPr lang="en-US" sz="1050" dirty="0"/>
          </a:p>
        </p:txBody>
      </p:sp>
      <p:sp>
        <p:nvSpPr>
          <p:cNvPr id="10" name="Text 8"/>
          <p:cNvSpPr/>
          <p:nvPr/>
        </p:nvSpPr>
        <p:spPr>
          <a:xfrm>
            <a:off x="8041082" y="1728688"/>
            <a:ext cx="3489138" cy="575072"/>
          </a:xfrm>
          <a:prstGeom prst="rect">
            <a:avLst/>
          </a:prstGeom>
          <a:noFill/>
          <a:ln/>
        </p:spPr>
        <p:txBody>
          <a:bodyPr wrap="none" lIns="0" tIns="0" rIns="0" bIns="0" rtlCol="0" anchor="t"/>
          <a:lstStyle/>
          <a:p>
            <a:pPr marL="0" indent="0" algn="ctr">
              <a:lnSpc>
                <a:spcPct val="83000"/>
              </a:lnSpc>
              <a:buNone/>
            </a:pPr>
            <a:r>
              <a:rPr lang="en-US" sz="4500" dirty="0">
                <a:solidFill>
                  <a:srgbClr val="5B5F71"/>
                </a:solidFill>
                <a:latin typeface="Instrument Sans SemiBold" pitchFamily="34" charset="0"/>
                <a:ea typeface="Instrument Sans SemiBold" pitchFamily="34" charset="-122"/>
                <a:cs typeface="Instrument Sans SemiBold" pitchFamily="34" charset="-120"/>
              </a:rPr>
              <a:t>0</a:t>
            </a:r>
            <a:endParaRPr lang="en-US" sz="4500" dirty="0"/>
          </a:p>
        </p:txBody>
      </p:sp>
      <p:sp>
        <p:nvSpPr>
          <p:cNvPr id="11" name="Text 9"/>
          <p:cNvSpPr/>
          <p:nvPr/>
        </p:nvSpPr>
        <p:spPr>
          <a:xfrm>
            <a:off x="8041082" y="2511326"/>
            <a:ext cx="3489138" cy="272157"/>
          </a:xfrm>
          <a:prstGeom prst="rect">
            <a:avLst/>
          </a:prstGeom>
          <a:noFill/>
          <a:ln/>
        </p:spPr>
        <p:txBody>
          <a:bodyPr wrap="none" lIns="0" tIns="0" rIns="0" bIns="0" rtlCol="0" anchor="t"/>
          <a:lstStyle/>
          <a:p>
            <a:pPr marL="0" indent="0" algn="ctr">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Tests Failed</a:t>
            </a:r>
            <a:endParaRPr lang="en-US" sz="1700" dirty="0"/>
          </a:p>
        </p:txBody>
      </p:sp>
      <p:sp>
        <p:nvSpPr>
          <p:cNvPr id="12" name="Text 10"/>
          <p:cNvSpPr/>
          <p:nvPr/>
        </p:nvSpPr>
        <p:spPr>
          <a:xfrm>
            <a:off x="8041082" y="2879824"/>
            <a:ext cx="3489138" cy="214313"/>
          </a:xfrm>
          <a:prstGeom prst="rect">
            <a:avLst/>
          </a:prstGeom>
          <a:noFill/>
          <a:ln/>
        </p:spPr>
        <p:txBody>
          <a:bodyPr wrap="none" lIns="0" tIns="0" rIns="0" bIns="0" rtlCol="0" anchor="t"/>
          <a:lstStyle/>
          <a:p>
            <a:pPr marL="0" indent="0" algn="ctr">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Clean baseline at time of review</a:t>
            </a:r>
            <a:endParaRPr lang="en-US" sz="1050" dirty="0"/>
          </a:p>
        </p:txBody>
      </p:sp>
      <p:sp>
        <p:nvSpPr>
          <p:cNvPr id="13" name="Text 11"/>
          <p:cNvSpPr/>
          <p:nvPr/>
        </p:nvSpPr>
        <p:spPr>
          <a:xfrm>
            <a:off x="661475" y="3274814"/>
            <a:ext cx="10868745" cy="609302"/>
          </a:xfrm>
          <a:prstGeom prst="rect">
            <a:avLst/>
          </a:prstGeom>
          <a:noFill/>
          <a:ln/>
        </p:spPr>
        <p:txBody>
          <a:bodyPr wrap="square" lIns="0" tIns="0" rIns="0" bIns="0" rtlCol="0" anchor="t"/>
          <a:lstStyle/>
          <a:p>
            <a:pPr marL="0" indent="0" algn="l">
              <a:lnSpc>
                <a:spcPct val="128000"/>
              </a:lnSpc>
              <a:spcAft>
                <a:spcPts val="1400"/>
              </a:spcAft>
              <a:buNone/>
            </a:pPr>
            <a:r>
              <a:rPr lang="en-US" sz="1050" dirty="0">
                <a:solidFill>
                  <a:srgbClr val="5B5F71"/>
                </a:solidFill>
                <a:latin typeface="Instrument Sans Medium" pitchFamily="34" charset="0"/>
                <a:ea typeface="Instrument Sans Medium" pitchFamily="34" charset="-122"/>
                <a:cs typeface="Instrument Sans Medium" pitchFamily="34" charset="-120"/>
              </a:rPr>
              <a:t>Automated tests verify expected behavior in covered scenarios. They are a separate measure from live local validation.</a:t>
            </a:r>
            <a:endParaRPr lang="en-US" sz="1050" dirty="0"/>
          </a:p>
          <a:p>
            <a:pPr marL="0" indent="0" algn="l">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Task 26D — Local End-to-End Validation</a:t>
            </a:r>
            <a:endParaRPr lang="en-US" sz="1050" dirty="0"/>
          </a:p>
        </p:txBody>
      </p:sp>
      <p:sp>
        <p:nvSpPr>
          <p:cNvPr id="14" name="Shape 12"/>
          <p:cNvSpPr/>
          <p:nvPr/>
        </p:nvSpPr>
        <p:spPr>
          <a:xfrm>
            <a:off x="661475" y="4064794"/>
            <a:ext cx="3515828" cy="1183680"/>
          </a:xfrm>
          <a:prstGeom prst="roundRect">
            <a:avLst>
              <a:gd name="adj" fmla="val 6183"/>
            </a:avLst>
          </a:prstGeom>
          <a:solidFill>
            <a:srgbClr val="FFFFFF">
              <a:alpha val="95000"/>
            </a:srgbClr>
          </a:solidFill>
          <a:ln w="19050">
            <a:solidFill>
              <a:srgbClr val="C8C9CF"/>
            </a:solidFill>
            <a:prstDash val="solid"/>
          </a:ln>
        </p:spPr>
        <p:txBody>
          <a:bodyPr/>
          <a:lstStyle/>
          <a:p>
            <a:endParaRPr lang="en-US"/>
          </a:p>
        </p:txBody>
      </p:sp>
      <p:sp>
        <p:nvSpPr>
          <p:cNvPr id="15" name="Text 13"/>
          <p:cNvSpPr/>
          <p:nvPr/>
        </p:nvSpPr>
        <p:spPr>
          <a:xfrm>
            <a:off x="854748" y="4258072"/>
            <a:ext cx="3129281" cy="272157"/>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Streamlit UI</a:t>
            </a:r>
            <a:endParaRPr lang="en-US" sz="1700" dirty="0"/>
          </a:p>
        </p:txBody>
      </p:sp>
      <p:sp>
        <p:nvSpPr>
          <p:cNvPr id="16" name="Text 14"/>
          <p:cNvSpPr/>
          <p:nvPr/>
        </p:nvSpPr>
        <p:spPr>
          <a:xfrm>
            <a:off x="854748" y="4626570"/>
            <a:ext cx="3129281" cy="428625"/>
          </a:xfrm>
          <a:prstGeom prst="rect">
            <a:avLst/>
          </a:prstGeom>
          <a:noFill/>
          <a:ln/>
        </p:spPr>
        <p:txBody>
          <a:bodyPr wrap="square" lIns="0" tIns="0" rIns="0" bIns="0" rtlCol="0" anchor="t">
            <a:normAutofit/>
          </a:bodyPr>
          <a:lstStyle/>
          <a:p>
            <a:pPr marL="0" indent="0" algn="l">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Staff submitted a synthetic FHIR-style evidence request through the browser interface.</a:t>
            </a:r>
            <a:endParaRPr lang="en-US" sz="1050" dirty="0"/>
          </a:p>
        </p:txBody>
      </p:sp>
      <p:sp>
        <p:nvSpPr>
          <p:cNvPr id="17" name="Shape 15"/>
          <p:cNvSpPr/>
          <p:nvPr/>
        </p:nvSpPr>
        <p:spPr>
          <a:xfrm>
            <a:off x="4337934" y="4064794"/>
            <a:ext cx="3515828" cy="1183680"/>
          </a:xfrm>
          <a:prstGeom prst="roundRect">
            <a:avLst>
              <a:gd name="adj" fmla="val 6183"/>
            </a:avLst>
          </a:prstGeom>
          <a:solidFill>
            <a:srgbClr val="FFFFFF">
              <a:alpha val="95000"/>
            </a:srgbClr>
          </a:solidFill>
          <a:ln w="19050">
            <a:solidFill>
              <a:srgbClr val="C8C9CF"/>
            </a:solidFill>
            <a:prstDash val="solid"/>
          </a:ln>
        </p:spPr>
        <p:txBody>
          <a:bodyPr/>
          <a:lstStyle/>
          <a:p>
            <a:endParaRPr lang="en-US"/>
          </a:p>
        </p:txBody>
      </p:sp>
      <p:sp>
        <p:nvSpPr>
          <p:cNvPr id="18" name="Text 16"/>
          <p:cNvSpPr/>
          <p:nvPr/>
        </p:nvSpPr>
        <p:spPr>
          <a:xfrm>
            <a:off x="4531207" y="4258072"/>
            <a:ext cx="3129281" cy="272157"/>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FastAPI Backend</a:t>
            </a:r>
            <a:endParaRPr lang="en-US" sz="1700" dirty="0"/>
          </a:p>
        </p:txBody>
      </p:sp>
      <p:sp>
        <p:nvSpPr>
          <p:cNvPr id="19" name="Text 17"/>
          <p:cNvSpPr/>
          <p:nvPr/>
        </p:nvSpPr>
        <p:spPr>
          <a:xfrm>
            <a:off x="4531207" y="4626570"/>
            <a:ext cx="3129281" cy="428625"/>
          </a:xfrm>
          <a:prstGeom prst="rect">
            <a:avLst/>
          </a:prstGeom>
          <a:noFill/>
          <a:ln/>
        </p:spPr>
        <p:txBody>
          <a:bodyPr wrap="square" lIns="0" tIns="0" rIns="0" bIns="0" rtlCol="0" anchor="t">
            <a:normAutofit/>
          </a:bodyPr>
          <a:lstStyle/>
          <a:p>
            <a:pPr marL="0" indent="0" algn="l">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Request received, workflow triggered, deterministic mismatch detected.</a:t>
            </a:r>
            <a:endParaRPr lang="en-US" sz="1050" dirty="0"/>
          </a:p>
        </p:txBody>
      </p:sp>
      <p:sp>
        <p:nvSpPr>
          <p:cNvPr id="20" name="Shape 18"/>
          <p:cNvSpPr/>
          <p:nvPr/>
        </p:nvSpPr>
        <p:spPr>
          <a:xfrm>
            <a:off x="8014392" y="4064794"/>
            <a:ext cx="3515828" cy="1183680"/>
          </a:xfrm>
          <a:prstGeom prst="roundRect">
            <a:avLst>
              <a:gd name="adj" fmla="val 6183"/>
            </a:avLst>
          </a:prstGeom>
          <a:solidFill>
            <a:srgbClr val="FFFFFF">
              <a:alpha val="95000"/>
            </a:srgbClr>
          </a:solidFill>
          <a:ln w="19050">
            <a:solidFill>
              <a:srgbClr val="C8C9CF"/>
            </a:solidFill>
            <a:prstDash val="solid"/>
          </a:ln>
        </p:spPr>
        <p:txBody>
          <a:bodyPr/>
          <a:lstStyle/>
          <a:p>
            <a:endParaRPr lang="en-US"/>
          </a:p>
        </p:txBody>
      </p:sp>
      <p:sp>
        <p:nvSpPr>
          <p:cNvPr id="21" name="Text 19"/>
          <p:cNvSpPr/>
          <p:nvPr/>
        </p:nvSpPr>
        <p:spPr>
          <a:xfrm>
            <a:off x="8207666" y="4258072"/>
            <a:ext cx="3129281" cy="272157"/>
          </a:xfrm>
          <a:prstGeom prst="rect">
            <a:avLst/>
          </a:prstGeom>
          <a:noFill/>
          <a:ln/>
        </p:spPr>
        <p:txBody>
          <a:bodyPr wrap="none" lIns="0" tIns="0" rIns="0" bIns="0" rtlCol="0" anchor="t"/>
          <a:lstStyle/>
          <a:p>
            <a:pPr marL="0" indent="0" algn="l">
              <a:lnSpc>
                <a:spcPct val="104000"/>
              </a:lnSpc>
              <a:buNone/>
            </a:pPr>
            <a:r>
              <a:rPr lang="en-US" sz="1700" dirty="0">
                <a:solidFill>
                  <a:srgbClr val="5B5F71"/>
                </a:solidFill>
                <a:latin typeface="Instrument Sans SemiBold" pitchFamily="34" charset="0"/>
                <a:ea typeface="Instrument Sans SemiBold" pitchFamily="34" charset="-122"/>
                <a:cs typeface="Instrument Sans SemiBold" pitchFamily="34" charset="-120"/>
              </a:rPr>
              <a:t>SQL Server</a:t>
            </a:r>
            <a:endParaRPr lang="en-US" sz="1700" dirty="0"/>
          </a:p>
        </p:txBody>
      </p:sp>
      <p:sp>
        <p:nvSpPr>
          <p:cNvPr id="22" name="Text 20"/>
          <p:cNvSpPr/>
          <p:nvPr/>
        </p:nvSpPr>
        <p:spPr>
          <a:xfrm>
            <a:off x="8207666" y="4626570"/>
            <a:ext cx="3129281" cy="428625"/>
          </a:xfrm>
          <a:prstGeom prst="rect">
            <a:avLst/>
          </a:prstGeom>
          <a:noFill/>
          <a:ln/>
        </p:spPr>
        <p:txBody>
          <a:bodyPr wrap="square" lIns="0" tIns="0" rIns="0" bIns="0" rtlCol="0" anchor="t">
            <a:normAutofit/>
          </a:bodyPr>
          <a:lstStyle/>
          <a:p>
            <a:pPr marL="0" indent="0" algn="l">
              <a:lnSpc>
                <a:spcPct val="128000"/>
              </a:lnSpc>
              <a:buNone/>
            </a:pPr>
            <a:r>
              <a:rPr lang="en-US" sz="1050" dirty="0">
                <a:solidFill>
                  <a:srgbClr val="5B5F71"/>
                </a:solidFill>
                <a:latin typeface="Instrument Sans Medium" pitchFamily="34" charset="0"/>
                <a:ea typeface="Instrument Sans Medium" pitchFamily="34" charset="-122"/>
                <a:cs typeface="Instrument Sans Medium" pitchFamily="34" charset="-120"/>
              </a:rPr>
              <a:t>Case, workflow run, and audit event persisted to the real local database.</a:t>
            </a:r>
            <a:endParaRPr lang="en-US" sz="1050" dirty="0"/>
          </a:p>
        </p:txBody>
      </p:sp>
      <p:sp>
        <p:nvSpPr>
          <p:cNvPr id="23" name="Shape 21"/>
          <p:cNvSpPr/>
          <p:nvPr/>
        </p:nvSpPr>
        <p:spPr>
          <a:xfrm>
            <a:off x="661475" y="5429151"/>
            <a:ext cx="10868745" cy="606623"/>
          </a:xfrm>
          <a:prstGeom prst="roundRect">
            <a:avLst>
              <a:gd name="adj" fmla="val 12064"/>
            </a:avLst>
          </a:prstGeom>
          <a:solidFill>
            <a:srgbClr val="E2E3E9"/>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835699" y="5663704"/>
            <a:ext cx="174224" cy="139402"/>
          </a:xfrm>
          <a:prstGeom prst="rect">
            <a:avLst/>
          </a:prstGeom>
        </p:spPr>
      </p:pic>
      <p:sp>
        <p:nvSpPr>
          <p:cNvPr id="25" name="Text 22"/>
          <p:cNvSpPr/>
          <p:nvPr/>
        </p:nvSpPr>
        <p:spPr>
          <a:xfrm>
            <a:off x="1184146" y="5633343"/>
            <a:ext cx="10781435" cy="214313"/>
          </a:xfrm>
          <a:prstGeom prst="rect">
            <a:avLst/>
          </a:prstGeom>
          <a:noFill/>
          <a:ln/>
        </p:spPr>
        <p:txBody>
          <a:bodyPr wrap="none" lIns="0" tIns="0" rIns="0" bIns="0" rtlCol="0" anchor="t"/>
          <a:lstStyle/>
          <a:p>
            <a:pPr marL="0" indent="0" algn="l">
              <a:lnSpc>
                <a:spcPct val="128000"/>
              </a:lnSpc>
              <a:buNone/>
            </a:pPr>
            <a:r>
              <a:rPr lang="en-US" sz="1050" dirty="0">
                <a:solidFill>
                  <a:srgbClr val="000000"/>
                </a:solidFill>
                <a:latin typeface="Instrument Sans Medium" pitchFamily="34" charset="0"/>
                <a:ea typeface="Instrument Sans Medium" pitchFamily="34" charset="-122"/>
                <a:cs typeface="Instrument Sans Medium" pitchFamily="34" charset="-120"/>
              </a:rPr>
              <a:t>No live AI call. No production FHIR connection. One complete workflow demonstrated end-to-end.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74020"/>
            <a:ext cx="10868745" cy="563066"/>
          </a:xfrm>
          <a:prstGeom prst="rect">
            <a:avLst/>
          </a:prstGeom>
          <a:noFill/>
          <a:ln/>
        </p:spPr>
        <p:txBody>
          <a:bodyPr wrap="none" lIns="0" tIns="0" rIns="0" bIns="0" rtlCol="0" anchor="t"/>
          <a:lstStyle/>
          <a:p>
            <a:pPr marL="0" indent="0" algn="l">
              <a:lnSpc>
                <a:spcPct val="104000"/>
              </a:lnSpc>
              <a:buNone/>
            </a:pPr>
            <a:r>
              <a:rPr lang="en-US" sz="3500" dirty="0">
                <a:solidFill>
                  <a:srgbClr val="505468"/>
                </a:solidFill>
                <a:latin typeface="Instrument Sans SemiBold" pitchFamily="34" charset="0"/>
                <a:ea typeface="Instrument Sans SemiBold" pitchFamily="34" charset="-122"/>
                <a:cs typeface="Instrument Sans SemiBold" pitchFamily="34" charset="-120"/>
              </a:rPr>
              <a:t>What Works Today — and What Comes Next</a:t>
            </a:r>
            <a:endParaRPr lang="en-US" sz="3500" dirty="0"/>
          </a:p>
        </p:txBody>
      </p:sp>
      <p:sp>
        <p:nvSpPr>
          <p:cNvPr id="3" name="Text 1"/>
          <p:cNvSpPr/>
          <p:nvPr/>
        </p:nvSpPr>
        <p:spPr>
          <a:xfrm>
            <a:off x="661475" y="1554132"/>
            <a:ext cx="5666936"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Phase 1 Prototype — Working Now</a:t>
            </a:r>
            <a:endParaRPr lang="en-US" sz="1750" dirty="0"/>
          </a:p>
        </p:txBody>
      </p:sp>
      <p:sp>
        <p:nvSpPr>
          <p:cNvPr id="4" name="Shape 2"/>
          <p:cNvSpPr/>
          <p:nvPr/>
        </p:nvSpPr>
        <p:spPr>
          <a:xfrm>
            <a:off x="661475" y="2019796"/>
            <a:ext cx="2747596" cy="1670447"/>
          </a:xfrm>
          <a:prstGeom prst="roundRect">
            <a:avLst>
              <a:gd name="adj" fmla="val 4530"/>
            </a:avLst>
          </a:prstGeom>
          <a:solidFill>
            <a:srgbClr val="E2E3E9"/>
          </a:solidFill>
          <a:ln w="6350">
            <a:solidFill>
              <a:srgbClr val="C8C9CF"/>
            </a:solidFill>
            <a:prstDash val="solid"/>
          </a:ln>
        </p:spPr>
        <p:txBody>
          <a:bodyPr/>
          <a:lstStyle/>
          <a:p>
            <a:endParaRPr lang="en-US"/>
          </a:p>
        </p:txBody>
      </p:sp>
      <p:sp>
        <p:nvSpPr>
          <p:cNvPr id="5" name="Text 3"/>
          <p:cNvSpPr/>
          <p:nvPr/>
        </p:nvSpPr>
        <p:spPr>
          <a:xfrm>
            <a:off x="847902" y="2206228"/>
            <a:ext cx="2374741"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Deterministic Checks</a:t>
            </a:r>
            <a:endParaRPr lang="en-US" sz="1750" dirty="0"/>
          </a:p>
        </p:txBody>
      </p:sp>
      <p:sp>
        <p:nvSpPr>
          <p:cNvPr id="6" name="Text 4"/>
          <p:cNvSpPr/>
          <p:nvPr/>
        </p:nvSpPr>
        <p:spPr>
          <a:xfrm>
            <a:off x="847902" y="2659360"/>
            <a:ext cx="2374741"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Rule-based mismatch and completeness validation</a:t>
            </a:r>
            <a:endParaRPr lang="en-US" sz="1400" dirty="0"/>
          </a:p>
        </p:txBody>
      </p:sp>
      <p:sp>
        <p:nvSpPr>
          <p:cNvPr id="7" name="Shape 5"/>
          <p:cNvSpPr/>
          <p:nvPr/>
        </p:nvSpPr>
        <p:spPr>
          <a:xfrm>
            <a:off x="3580715" y="2019796"/>
            <a:ext cx="2747695" cy="1670447"/>
          </a:xfrm>
          <a:prstGeom prst="roundRect">
            <a:avLst>
              <a:gd name="adj" fmla="val 4530"/>
            </a:avLst>
          </a:prstGeom>
          <a:solidFill>
            <a:srgbClr val="E2E3E9"/>
          </a:solidFill>
          <a:ln w="6350">
            <a:solidFill>
              <a:srgbClr val="C8C9CF"/>
            </a:solidFill>
            <a:prstDash val="solid"/>
          </a:ln>
        </p:spPr>
        <p:txBody>
          <a:bodyPr/>
          <a:lstStyle/>
          <a:p>
            <a:endParaRPr lang="en-US"/>
          </a:p>
        </p:txBody>
      </p:sp>
      <p:sp>
        <p:nvSpPr>
          <p:cNvPr id="8" name="Text 6"/>
          <p:cNvSpPr/>
          <p:nvPr/>
        </p:nvSpPr>
        <p:spPr>
          <a:xfrm>
            <a:off x="3767142" y="2206228"/>
            <a:ext cx="2374841"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Human Review</a:t>
            </a:r>
            <a:endParaRPr lang="en-US" sz="1750" dirty="0"/>
          </a:p>
        </p:txBody>
      </p:sp>
      <p:sp>
        <p:nvSpPr>
          <p:cNvPr id="9" name="Text 7"/>
          <p:cNvSpPr/>
          <p:nvPr/>
        </p:nvSpPr>
        <p:spPr>
          <a:xfrm>
            <a:off x="3767142" y="2659360"/>
            <a:ext cx="2374841"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Reviewer workflow actions with key audit events recorded</a:t>
            </a:r>
            <a:endParaRPr lang="en-US" sz="1400" dirty="0"/>
          </a:p>
        </p:txBody>
      </p:sp>
      <p:sp>
        <p:nvSpPr>
          <p:cNvPr id="10" name="Shape 8"/>
          <p:cNvSpPr/>
          <p:nvPr/>
        </p:nvSpPr>
        <p:spPr>
          <a:xfrm>
            <a:off x="661475" y="3861891"/>
            <a:ext cx="2747596" cy="1388963"/>
          </a:xfrm>
          <a:prstGeom prst="roundRect">
            <a:avLst>
              <a:gd name="adj" fmla="val 5448"/>
            </a:avLst>
          </a:prstGeom>
          <a:solidFill>
            <a:srgbClr val="E2E3E9"/>
          </a:solidFill>
          <a:ln w="6350">
            <a:solidFill>
              <a:srgbClr val="C8C9CF"/>
            </a:solidFill>
            <a:prstDash val="solid"/>
          </a:ln>
        </p:spPr>
        <p:txBody>
          <a:bodyPr/>
          <a:lstStyle/>
          <a:p>
            <a:endParaRPr lang="en-US"/>
          </a:p>
        </p:txBody>
      </p:sp>
      <p:sp>
        <p:nvSpPr>
          <p:cNvPr id="11" name="Text 9"/>
          <p:cNvSpPr/>
          <p:nvPr/>
        </p:nvSpPr>
        <p:spPr>
          <a:xfrm>
            <a:off x="847902" y="4048323"/>
            <a:ext cx="2374741"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Application Resume</a:t>
            </a:r>
            <a:endParaRPr lang="en-US" sz="1750" dirty="0"/>
          </a:p>
        </p:txBody>
      </p:sp>
      <p:sp>
        <p:nvSpPr>
          <p:cNvPr id="12" name="Text 10"/>
          <p:cNvSpPr/>
          <p:nvPr/>
        </p:nvSpPr>
        <p:spPr>
          <a:xfrm>
            <a:off x="847902" y="4501455"/>
            <a:ext cx="2374741"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Re-invocation using trace ID with revalidation</a:t>
            </a:r>
            <a:endParaRPr lang="en-US" sz="1400" dirty="0"/>
          </a:p>
        </p:txBody>
      </p:sp>
      <p:sp>
        <p:nvSpPr>
          <p:cNvPr id="13" name="Shape 11"/>
          <p:cNvSpPr/>
          <p:nvPr/>
        </p:nvSpPr>
        <p:spPr>
          <a:xfrm>
            <a:off x="3580715" y="3861891"/>
            <a:ext cx="2747695" cy="1388963"/>
          </a:xfrm>
          <a:prstGeom prst="roundRect">
            <a:avLst>
              <a:gd name="adj" fmla="val 5448"/>
            </a:avLst>
          </a:prstGeom>
          <a:solidFill>
            <a:srgbClr val="E2E3E9"/>
          </a:solidFill>
          <a:ln w="6350">
            <a:solidFill>
              <a:srgbClr val="C8C9CF"/>
            </a:solidFill>
            <a:prstDash val="solid"/>
          </a:ln>
        </p:spPr>
        <p:txBody>
          <a:bodyPr/>
          <a:lstStyle/>
          <a:p>
            <a:endParaRPr lang="en-US"/>
          </a:p>
        </p:txBody>
      </p:sp>
      <p:sp>
        <p:nvSpPr>
          <p:cNvPr id="14" name="Text 12"/>
          <p:cNvSpPr/>
          <p:nvPr/>
        </p:nvSpPr>
        <p:spPr>
          <a:xfrm>
            <a:off x="3767142" y="4048323"/>
            <a:ext cx="2374841"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SQL Persistence</a:t>
            </a:r>
            <a:endParaRPr lang="en-US" sz="1750" dirty="0"/>
          </a:p>
        </p:txBody>
      </p:sp>
      <p:sp>
        <p:nvSpPr>
          <p:cNvPr id="15" name="Text 13"/>
          <p:cNvSpPr/>
          <p:nvPr/>
        </p:nvSpPr>
        <p:spPr>
          <a:xfrm>
            <a:off x="3767142" y="4501455"/>
            <a:ext cx="2374841"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Cases, runs, reviews, and audit events recorded</a:t>
            </a:r>
            <a:endParaRPr lang="en-US" sz="1400" dirty="0"/>
          </a:p>
        </p:txBody>
      </p:sp>
      <p:sp>
        <p:nvSpPr>
          <p:cNvPr id="16" name="Text 14"/>
          <p:cNvSpPr/>
          <p:nvPr/>
        </p:nvSpPr>
        <p:spPr>
          <a:xfrm>
            <a:off x="6774288" y="1554132"/>
            <a:ext cx="4762182" cy="562967"/>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Production Roadmap — Not Yet Implemented</a:t>
            </a:r>
            <a:endParaRPr lang="en-US" sz="1750" dirty="0"/>
          </a:p>
        </p:txBody>
      </p:sp>
      <p:sp>
        <p:nvSpPr>
          <p:cNvPr id="17" name="Text 15"/>
          <p:cNvSpPr/>
          <p:nvPr/>
        </p:nvSpPr>
        <p:spPr>
          <a:xfrm>
            <a:off x="6774288" y="2279749"/>
            <a:ext cx="4762182" cy="1647527"/>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Production authentication and secrets management</a:t>
            </a:r>
            <a:endParaRPr lang="en-US" sz="1400" dirty="0"/>
          </a:p>
          <a:p>
            <a:pPr marL="284480" indent="-284480" algn="l">
              <a:lnSpc>
                <a:spcPct val="130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Real FHIR / payer system integration</a:t>
            </a:r>
            <a:endParaRPr lang="en-US" sz="1400" dirty="0"/>
          </a:p>
          <a:p>
            <a:pPr marL="284480" indent="-284480" algn="l">
              <a:lnSpc>
                <a:spcPct val="130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Broader clinical policy enforcement</a:t>
            </a:r>
            <a:endParaRPr lang="en-US" sz="1400" dirty="0"/>
          </a:p>
          <a:p>
            <a:pPr marL="284480" indent="-284480" algn="l">
              <a:lnSpc>
                <a:spcPct val="130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Automatic retry controls and error escalation</a:t>
            </a:r>
            <a:endParaRPr lang="en-US" sz="1400" dirty="0"/>
          </a:p>
          <a:p>
            <a:pPr marL="284480" indent="-284480" algn="l">
              <a:lnSpc>
                <a:spcPct val="130000"/>
              </a:lnSpc>
              <a:buSzPct val="100000"/>
              <a:buChar char="•"/>
            </a:pPr>
            <a:r>
              <a:rPr lang="en-US" sz="1400" dirty="0">
                <a:solidFill>
                  <a:srgbClr val="5B5F71"/>
                </a:solidFill>
                <a:latin typeface="Instrument Sans Medium" pitchFamily="34" charset="0"/>
                <a:ea typeface="Instrument Sans Medium" pitchFamily="34" charset="-122"/>
                <a:cs typeface="Instrument Sans Medium" pitchFamily="34" charset="-120"/>
              </a:rPr>
              <a:t>CI/CD pipeline and compliance monitoring</a:t>
            </a:r>
            <a:endParaRPr lang="en-US" sz="1400" dirty="0"/>
          </a:p>
        </p:txBody>
      </p:sp>
      <p:sp>
        <p:nvSpPr>
          <p:cNvPr id="18" name="Text 16"/>
          <p:cNvSpPr/>
          <p:nvPr/>
        </p:nvSpPr>
        <p:spPr>
          <a:xfrm>
            <a:off x="931641" y="5830391"/>
            <a:ext cx="11208164" cy="281484"/>
          </a:xfrm>
          <a:prstGeom prst="rect">
            <a:avLst/>
          </a:prstGeom>
          <a:noFill/>
          <a:ln/>
        </p:spPr>
        <p:txBody>
          <a:bodyPr wrap="none" lIns="0" tIns="0" rIns="0" bIns="0" rtlCol="0" anchor="t"/>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 working prototype with a clear path to production — not a clinical decision system.</a:t>
            </a:r>
            <a:endParaRPr lang="en-US" sz="1400" dirty="0"/>
          </a:p>
        </p:txBody>
      </p:sp>
      <p:sp>
        <p:nvSpPr>
          <p:cNvPr id="19" name="Shape 17"/>
          <p:cNvSpPr/>
          <p:nvPr/>
        </p:nvSpPr>
        <p:spPr>
          <a:xfrm>
            <a:off x="661475" y="5637213"/>
            <a:ext cx="25399" cy="667841"/>
          </a:xfrm>
          <a:prstGeom prst="roundRect">
            <a:avLst>
              <a:gd name="adj" fmla="val 50001"/>
            </a:avLst>
          </a:prstGeom>
          <a:solidFill>
            <a:srgbClr val="505468"/>
          </a:solidFill>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95396"/>
            <a:ext cx="10868745" cy="337840"/>
          </a:xfrm>
          <a:prstGeom prst="rect">
            <a:avLst/>
          </a:prstGeom>
          <a:noFill/>
          <a:ln/>
        </p:spPr>
        <p:txBody>
          <a:bodyPr wrap="none" lIns="0" tIns="0" rIns="0" bIns="0" rtlCol="0" anchor="t"/>
          <a:lstStyle/>
          <a:p>
            <a:pPr marL="0" indent="0" algn="l">
              <a:lnSpc>
                <a:spcPct val="104000"/>
              </a:lnSpc>
              <a:buNone/>
            </a:pPr>
            <a:r>
              <a:rPr lang="en-US" sz="2100" dirty="0">
                <a:solidFill>
                  <a:srgbClr val="505468"/>
                </a:solidFill>
                <a:latin typeface="Instrument Sans SemiBold" pitchFamily="34" charset="0"/>
                <a:ea typeface="Instrument Sans SemiBold" pitchFamily="34" charset="-122"/>
                <a:cs typeface="Instrument Sans SemiBold" pitchFamily="34" charset="-120"/>
              </a:rPr>
              <a:t>Appendix A1: One Real Deterministic Routing Decision</a:t>
            </a:r>
            <a:endParaRPr lang="en-US" sz="2100" dirty="0"/>
          </a:p>
        </p:txBody>
      </p:sp>
      <p:sp>
        <p:nvSpPr>
          <p:cNvPr id="3" name="Text 1"/>
          <p:cNvSpPr/>
          <p:nvPr/>
        </p:nvSpPr>
        <p:spPr>
          <a:xfrm>
            <a:off x="661475" y="1360656"/>
            <a:ext cx="6571590"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What This Function Does</a:t>
            </a:r>
            <a:endParaRPr lang="en-US" sz="1750" dirty="0"/>
          </a:p>
        </p:txBody>
      </p:sp>
      <p:sp>
        <p:nvSpPr>
          <p:cNvPr id="4" name="Text 2"/>
          <p:cNvSpPr/>
          <p:nvPr/>
        </p:nvSpPr>
        <p:spPr>
          <a:xfrm>
            <a:off x="661475" y="1804789"/>
            <a:ext cx="6571590"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After the evidence-consistency check runs, one routing function reads the check result and decides the next workflow step. This is </a:t>
            </a:r>
            <a:r>
              <a:rPr lang="en-US" sz="1400" b="1" dirty="0">
                <a:solidFill>
                  <a:srgbClr val="5B5F71"/>
                </a:solidFill>
                <a:latin typeface="Instrument Sans Bold" pitchFamily="34" charset="0"/>
                <a:ea typeface="Instrument Sans Bold" pitchFamily="34" charset="-122"/>
                <a:cs typeface="Instrument Sans Bold" pitchFamily="34" charset="-120"/>
              </a:rPr>
              <a:t>one of several decision points</a:t>
            </a:r>
            <a:r>
              <a:rPr lang="en-US" sz="1400" dirty="0">
                <a:solidFill>
                  <a:srgbClr val="5B5F71"/>
                </a:solidFill>
                <a:latin typeface="Instrument Sans Medium" pitchFamily="34" charset="0"/>
                <a:ea typeface="Instrument Sans Medium" pitchFamily="34" charset="-122"/>
                <a:cs typeface="Instrument Sans Medium" pitchFamily="34" charset="-120"/>
              </a:rPr>
              <a:t> in the graph — not the only one.</a:t>
            </a:r>
            <a:endParaRPr lang="en-US" sz="1400" dirty="0"/>
          </a:p>
        </p:txBody>
      </p:sp>
      <p:sp>
        <p:nvSpPr>
          <p:cNvPr id="5" name="Shape 3"/>
          <p:cNvSpPr/>
          <p:nvPr/>
        </p:nvSpPr>
        <p:spPr>
          <a:xfrm>
            <a:off x="661475" y="2842419"/>
            <a:ext cx="6571590" cy="1801316"/>
          </a:xfrm>
          <a:prstGeom prst="roundRect">
            <a:avLst>
              <a:gd name="adj" fmla="val 4201"/>
            </a:avLst>
          </a:prstGeom>
          <a:solidFill>
            <a:srgbClr val="F2F2F2"/>
          </a:solidFill>
          <a:ln/>
        </p:spPr>
        <p:txBody>
          <a:bodyPr/>
          <a:lstStyle/>
          <a:p>
            <a:endParaRPr lang="en-US"/>
          </a:p>
        </p:txBody>
      </p:sp>
      <p:sp>
        <p:nvSpPr>
          <p:cNvPr id="6" name="Text 4"/>
          <p:cNvSpPr/>
          <p:nvPr/>
        </p:nvSpPr>
        <p:spPr>
          <a:xfrm>
            <a:off x="877568" y="3022501"/>
            <a:ext cx="6139403" cy="1441152"/>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D73A49"/>
                </a:solidFill>
                <a:latin typeface="Consolas" pitchFamily="34" charset="0"/>
                <a:ea typeface="Consolas" pitchFamily="34" charset="-122"/>
                <a:cs typeface="Consolas" pitchFamily="34" charset="-120"/>
              </a:rPr>
              <a:t>def route_after_evidence_consistency(state):</a:t>
            </a:r>
            <a:endParaRPr lang="en-US" sz="1400" dirty="0"/>
          </a:p>
          <a:p>
            <a:pPr marL="0" indent="0" algn="l">
              <a:lnSpc>
                <a:spcPct val="133000"/>
              </a:lnSpc>
              <a:buNone/>
            </a:pPr>
            <a:r>
              <a:rPr lang="en-US" sz="1400" dirty="0">
                <a:solidFill>
                  <a:srgbClr val="D73A49"/>
                </a:solidFill>
                <a:latin typeface="Consolas" pitchFamily="34" charset="0"/>
                <a:ea typeface="Consolas" pitchFamily="34" charset="-122"/>
                <a:cs typeface="Consolas" pitchFamily="34" charset="-120"/>
              </a:rPr>
              <a:t>    result = state["evidence_consistency_result"]</a:t>
            </a:r>
            <a:endParaRPr lang="en-US" sz="1400" dirty="0"/>
          </a:p>
          <a:p>
            <a:pPr marL="0" indent="0" algn="l">
              <a:lnSpc>
                <a:spcPct val="133000"/>
              </a:lnSpc>
              <a:buNone/>
            </a:pPr>
            <a:r>
              <a:rPr lang="en-US" sz="1400" dirty="0">
                <a:solidFill>
                  <a:srgbClr val="D73A49"/>
                </a:solidFill>
                <a:latin typeface="Consolas" pitchFamily="34" charset="0"/>
                <a:ea typeface="Consolas" pitchFamily="34" charset="-122"/>
                <a:cs typeface="Consolas" pitchFamily="34" charset="-120"/>
              </a:rPr>
              <a:t>    if result is not None and   result.is_consistent:</a:t>
            </a:r>
            <a:endParaRPr lang="en-US" sz="1400" dirty="0"/>
          </a:p>
          <a:p>
            <a:pPr marL="0" indent="0" algn="l">
              <a:lnSpc>
                <a:spcPct val="133000"/>
              </a:lnSpc>
              <a:buNone/>
            </a:pPr>
            <a:r>
              <a:rPr lang="en-US" sz="1400" dirty="0">
                <a:solidFill>
                  <a:srgbClr val="D73A49"/>
                </a:solidFill>
                <a:latin typeface="Consolas" pitchFamily="34" charset="0"/>
                <a:ea typeface="Consolas" pitchFamily="34" charset="-122"/>
                <a:cs typeface="Consolas" pitchFamily="34" charset="-120"/>
              </a:rPr>
              <a:t>        return "evaluate_completeness"</a:t>
            </a:r>
            <a:endParaRPr lang="en-US" sz="1400" dirty="0"/>
          </a:p>
          <a:p>
            <a:pPr marL="0" indent="0" algn="l">
              <a:lnSpc>
                <a:spcPct val="133000"/>
              </a:lnSpc>
              <a:buNone/>
            </a:pPr>
            <a:r>
              <a:rPr lang="en-US" sz="1400" dirty="0">
                <a:solidFill>
                  <a:srgbClr val="D73A49"/>
                </a:solidFill>
                <a:latin typeface="Consolas" pitchFamily="34" charset="0"/>
                <a:ea typeface="Consolas" pitchFamily="34" charset="-122"/>
                <a:cs typeface="Consolas" pitchFamily="34" charset="-120"/>
              </a:rPr>
              <a:t>    return "human_review_required"</a:t>
            </a:r>
            <a:endParaRPr lang="en-US" sz="1400" dirty="0"/>
          </a:p>
        </p:txBody>
      </p:sp>
      <p:sp>
        <p:nvSpPr>
          <p:cNvPr id="7" name="Shape 5"/>
          <p:cNvSpPr/>
          <p:nvPr/>
        </p:nvSpPr>
        <p:spPr>
          <a:xfrm>
            <a:off x="661475" y="4836914"/>
            <a:ext cx="6571590" cy="1243310"/>
          </a:xfrm>
          <a:prstGeom prst="roundRect">
            <a:avLst>
              <a:gd name="adj" fmla="val 6086"/>
            </a:avLst>
          </a:prstGeom>
          <a:solidFill>
            <a:srgbClr val="E2E3E9"/>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841552" y="5099050"/>
            <a:ext cx="225122" cy="180082"/>
          </a:xfrm>
          <a:prstGeom prst="rect">
            <a:avLst/>
          </a:prstGeom>
        </p:spPr>
      </p:pic>
      <p:sp>
        <p:nvSpPr>
          <p:cNvPr id="9" name="Text 6"/>
          <p:cNvSpPr/>
          <p:nvPr/>
        </p:nvSpPr>
        <p:spPr>
          <a:xfrm>
            <a:off x="1246752" y="5036344"/>
            <a:ext cx="5806235"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Instrument Sans Medium" pitchFamily="34" charset="0"/>
                <a:ea typeface="Instrument Sans Medium" pitchFamily="34" charset="-122"/>
                <a:cs typeface="Instrument Sans Medium" pitchFamily="34" charset="-120"/>
              </a:rPr>
              <a:t>No AI is called here. The function reads the result of an earlier rule-based evidence check and returns a label for the next workflow step. LangGraph uses that label to route the case.</a:t>
            </a:r>
            <a:endParaRPr lang="en-US" sz="1400" dirty="0"/>
          </a:p>
        </p:txBody>
      </p:sp>
      <p:sp>
        <p:nvSpPr>
          <p:cNvPr id="10" name="Text 7"/>
          <p:cNvSpPr/>
          <p:nvPr/>
        </p:nvSpPr>
        <p:spPr>
          <a:xfrm>
            <a:off x="7678942" y="1360656"/>
            <a:ext cx="3857528"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　Key Concepts — Plain Language</a:t>
            </a:r>
            <a:endParaRPr lang="en-US" sz="17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53543" y="1800920"/>
            <a:ext cx="3882928" cy="1049734"/>
          </a:xfrm>
          <a:prstGeom prst="rect">
            <a:avLst/>
          </a:prstGeom>
        </p:spPr>
      </p:pic>
      <p:sp>
        <p:nvSpPr>
          <p:cNvPr id="12" name="Text 8"/>
          <p:cNvSpPr/>
          <p:nvPr/>
        </p:nvSpPr>
        <p:spPr>
          <a:xfrm>
            <a:off x="7909819" y="1826320"/>
            <a:ext cx="3626652" cy="998934"/>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5B5F71"/>
                </a:solidFill>
                <a:latin typeface="Instrument Sans Bold" pitchFamily="34" charset="0"/>
                <a:ea typeface="Instrument Sans Bold" pitchFamily="34" charset="-122"/>
                <a:cs typeface="Instrument Sans Bold" pitchFamily="34" charset="-120"/>
              </a:rPr>
              <a:t>state</a:t>
            </a:r>
            <a:endParaRPr lang="en-US" sz="1400" dirty="0"/>
          </a:p>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 shared data object that passes information between workflow steps.</a:t>
            </a:r>
            <a:endParaRPr lang="en-US" sz="140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53543" y="3143250"/>
            <a:ext cx="3882928" cy="1049734"/>
          </a:xfrm>
          <a:prstGeom prst="rect">
            <a:avLst/>
          </a:prstGeom>
        </p:spPr>
      </p:pic>
      <p:sp>
        <p:nvSpPr>
          <p:cNvPr id="14" name="Text 9"/>
          <p:cNvSpPr/>
          <p:nvPr/>
        </p:nvSpPr>
        <p:spPr>
          <a:xfrm>
            <a:off x="7909819" y="3168650"/>
            <a:ext cx="3626652" cy="998934"/>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5B5F71"/>
                </a:solidFill>
                <a:latin typeface="Instrument Sans Bold" pitchFamily="34" charset="0"/>
                <a:ea typeface="Instrument Sans Bold" pitchFamily="34" charset="-122"/>
                <a:cs typeface="Instrument Sans Bold" pitchFamily="34" charset="-120"/>
              </a:rPr>
              <a:t>evidence_consistency_result</a:t>
            </a:r>
            <a:endParaRPr lang="en-US" sz="1400" dirty="0"/>
          </a:p>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 structured result containing the evidence-consistency check outcome.</a:t>
            </a:r>
            <a:endParaRPr lang="en-US" sz="14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53543" y="4485580"/>
            <a:ext cx="3882928" cy="1612702"/>
          </a:xfrm>
          <a:prstGeom prst="rect">
            <a:avLst/>
          </a:prstGeom>
        </p:spPr>
      </p:pic>
      <p:sp>
        <p:nvSpPr>
          <p:cNvPr id="16" name="Text 10"/>
          <p:cNvSpPr/>
          <p:nvPr/>
        </p:nvSpPr>
        <p:spPr>
          <a:xfrm>
            <a:off x="7909819" y="4510980"/>
            <a:ext cx="3626652" cy="1561902"/>
          </a:xfrm>
          <a:prstGeom prst="rect">
            <a:avLst/>
          </a:prstGeom>
          <a:noFill/>
          <a:ln/>
        </p:spPr>
        <p:txBody>
          <a:bodyPr wrap="square" lIns="0" tIns="0" rIns="0" bIns="0" rtlCol="0" anchor="t"/>
          <a:lstStyle/>
          <a:p>
            <a:pPr marL="0" indent="0" algn="l">
              <a:lnSpc>
                <a:spcPct val="130000"/>
              </a:lnSpc>
              <a:spcAft>
                <a:spcPts val="1200"/>
              </a:spcAft>
              <a:buNone/>
            </a:pPr>
            <a:r>
              <a:rPr lang="en-US" sz="1400" b="1" dirty="0">
                <a:solidFill>
                  <a:srgbClr val="5B5F71"/>
                </a:solidFill>
                <a:latin typeface="Instrument Sans Bold" pitchFamily="34" charset="0"/>
                <a:ea typeface="Instrument Sans Bold" pitchFamily="34" charset="-122"/>
                <a:cs typeface="Instrument Sans Bold" pitchFamily="34" charset="-120"/>
              </a:rPr>
              <a:t>return value</a:t>
            </a:r>
            <a:endParaRPr lang="en-US" sz="1400" dirty="0"/>
          </a:p>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 text label telling LangGraph which node to visit next — The function returns a route label; it does not execute the destination node itself.</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542408"/>
            <a:ext cx="10868745" cy="332184"/>
          </a:xfrm>
          <a:prstGeom prst="rect">
            <a:avLst/>
          </a:prstGeom>
          <a:noFill/>
          <a:ln/>
        </p:spPr>
        <p:txBody>
          <a:bodyPr wrap="none" lIns="0" tIns="0" rIns="0" bIns="0" rtlCol="0" anchor="t"/>
          <a:lstStyle/>
          <a:p>
            <a:pPr marL="0" indent="0" algn="l">
              <a:lnSpc>
                <a:spcPct val="104000"/>
              </a:lnSpc>
              <a:buNone/>
            </a:pPr>
            <a:r>
              <a:rPr lang="en-US" sz="2050" dirty="0">
                <a:solidFill>
                  <a:srgbClr val="505468"/>
                </a:solidFill>
                <a:latin typeface="Instrument Sans SemiBold" pitchFamily="34" charset="0"/>
                <a:ea typeface="Instrument Sans SemiBold" pitchFamily="34" charset="-122"/>
                <a:cs typeface="Instrument Sans SemiBold" pitchFamily="34" charset="-120"/>
              </a:rPr>
              <a:t>Appendix A2: How the Database Records Connect</a:t>
            </a:r>
            <a:endParaRPr lang="en-US" sz="2050" dirty="0"/>
          </a:p>
        </p:txBody>
      </p:sp>
      <p:pic>
        <p:nvPicPr>
          <p:cNvPr id="3" name="Image 0" descr="preencoded.png"/>
          <p:cNvPicPr>
            <a:picLocks noChangeAspect="1"/>
          </p:cNvPicPr>
          <p:nvPr/>
        </p:nvPicPr>
        <p:blipFill>
          <a:blip r:embed="rId3"/>
          <a:stretch>
            <a:fillRect/>
          </a:stretch>
        </p:blipFill>
        <p:spPr>
          <a:xfrm>
            <a:off x="661475" y="1295202"/>
            <a:ext cx="4430106" cy="4384179"/>
          </a:xfrm>
          <a:prstGeom prst="rect">
            <a:avLst/>
          </a:prstGeom>
        </p:spPr>
      </p:pic>
      <p:pic>
        <p:nvPicPr>
          <p:cNvPr id="4" name="Image 1" descr="preencoded.png"/>
          <p:cNvPicPr>
            <a:picLocks noChangeAspect="1"/>
          </p:cNvPicPr>
          <p:nvPr/>
        </p:nvPicPr>
        <p:blipFill>
          <a:blip r:embed="rId4"/>
          <a:stretch>
            <a:fillRect/>
          </a:stretch>
        </p:blipFill>
        <p:spPr>
          <a:xfrm>
            <a:off x="6092176" y="1295202"/>
            <a:ext cx="4762381" cy="4442420"/>
          </a:xfrm>
          <a:prstGeom prst="rect">
            <a:avLst/>
          </a:prstGeom>
        </p:spPr>
      </p:pic>
      <p:sp>
        <p:nvSpPr>
          <p:cNvPr id="5" name="Text 1"/>
          <p:cNvSpPr/>
          <p:nvPr/>
        </p:nvSpPr>
        <p:spPr>
          <a:xfrm>
            <a:off x="356682" y="6111280"/>
            <a:ext cx="11478330" cy="219670"/>
          </a:xfrm>
          <a:prstGeom prst="rect">
            <a:avLst/>
          </a:prstGeom>
          <a:noFill/>
          <a:ln/>
        </p:spPr>
        <p:txBody>
          <a:bodyPr wrap="none" lIns="0" tIns="0" rIns="0" bIns="0" rtlCol="0" anchor="t"/>
          <a:lstStyle/>
          <a:p>
            <a:pPr marL="0" indent="0" algn="ctr">
              <a:lnSpc>
                <a:spcPct val="129000"/>
              </a:lnSpc>
              <a:buNone/>
            </a:pPr>
            <a:r>
              <a:rPr lang="en-US" sz="1100" i="1" dirty="0">
                <a:solidFill>
                  <a:srgbClr val="808080"/>
                </a:solidFill>
                <a:latin typeface="Instrument Sans Medium" pitchFamily="34" charset="0"/>
                <a:ea typeface="Instrument Sans Medium" pitchFamily="34" charset="-122"/>
                <a:cs typeface="Instrument Sans Medium" pitchFamily="34" charset="-120"/>
              </a:rPr>
              <a:t>Conceptual relationship diagram — not a full physical ER diagram.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727555"/>
            <a:ext cx="10868745" cy="337840"/>
          </a:xfrm>
          <a:prstGeom prst="rect">
            <a:avLst/>
          </a:prstGeom>
          <a:noFill/>
          <a:ln/>
        </p:spPr>
        <p:txBody>
          <a:bodyPr wrap="none" lIns="0" tIns="0" rIns="0" bIns="0" rtlCol="0" anchor="t"/>
          <a:lstStyle/>
          <a:p>
            <a:pPr marL="0" indent="0" algn="l">
              <a:lnSpc>
                <a:spcPct val="104000"/>
              </a:lnSpc>
              <a:buNone/>
            </a:pPr>
            <a:r>
              <a:rPr lang="en-US" sz="2100" dirty="0">
                <a:solidFill>
                  <a:srgbClr val="505468"/>
                </a:solidFill>
                <a:latin typeface="Instrument Sans SemiBold" pitchFamily="34" charset="0"/>
                <a:ea typeface="Instrument Sans SemiBold" pitchFamily="34" charset="-122"/>
                <a:cs typeface="Instrument Sans SemiBold" pitchFamily="34" charset="-120"/>
              </a:rPr>
              <a:t>Appendix A3: Tested Failure Paths and Planned Safeguards</a:t>
            </a:r>
            <a:endParaRPr lang="en-US" sz="2100" dirty="0"/>
          </a:p>
        </p:txBody>
      </p:sp>
      <p:sp>
        <p:nvSpPr>
          <p:cNvPr id="3" name="Text 1"/>
          <p:cNvSpPr/>
          <p:nvPr/>
        </p:nvSpPr>
        <p:spPr>
          <a:xfrm>
            <a:off x="661475" y="1492815"/>
            <a:ext cx="5214609"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Implemented and Tested Offline</a:t>
            </a:r>
            <a:endParaRPr lang="en-US" sz="1750" dirty="0"/>
          </a:p>
        </p:txBody>
      </p:sp>
      <p:sp>
        <p:nvSpPr>
          <p:cNvPr id="4" name="Shape 2"/>
          <p:cNvSpPr/>
          <p:nvPr/>
        </p:nvSpPr>
        <p:spPr>
          <a:xfrm>
            <a:off x="661475" y="1958479"/>
            <a:ext cx="2521482" cy="1951930"/>
          </a:xfrm>
          <a:prstGeom prst="roundRect">
            <a:avLst>
              <a:gd name="adj" fmla="val 3876"/>
            </a:avLst>
          </a:prstGeom>
          <a:solidFill>
            <a:srgbClr val="E2E3E9"/>
          </a:solidFill>
          <a:ln w="6350">
            <a:solidFill>
              <a:srgbClr val="C8C9CF"/>
            </a:solidFill>
            <a:prstDash val="solid"/>
          </a:ln>
        </p:spPr>
        <p:txBody>
          <a:bodyPr/>
          <a:lstStyle/>
          <a:p>
            <a:endParaRPr lang="en-US"/>
          </a:p>
        </p:txBody>
      </p:sp>
      <p:sp>
        <p:nvSpPr>
          <p:cNvPr id="5" name="Text 3"/>
          <p:cNvSpPr/>
          <p:nvPr/>
        </p:nvSpPr>
        <p:spPr>
          <a:xfrm>
            <a:off x="847902" y="2144911"/>
            <a:ext cx="2148627" cy="562967"/>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Malformed AI Output</a:t>
            </a:r>
            <a:endParaRPr lang="en-US" sz="1750" dirty="0"/>
          </a:p>
        </p:txBody>
      </p:sp>
      <p:sp>
        <p:nvSpPr>
          <p:cNvPr id="6" name="Text 4"/>
          <p:cNvSpPr/>
          <p:nvPr/>
        </p:nvSpPr>
        <p:spPr>
          <a:xfrm>
            <a:off x="847902" y="2879527"/>
            <a:ext cx="2148627"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Unparseable or invalid AI response → routed to Human Review</a:t>
            </a:r>
            <a:endParaRPr lang="en-US" sz="1400" dirty="0"/>
          </a:p>
        </p:txBody>
      </p:sp>
      <p:sp>
        <p:nvSpPr>
          <p:cNvPr id="7" name="Shape 5"/>
          <p:cNvSpPr/>
          <p:nvPr/>
        </p:nvSpPr>
        <p:spPr>
          <a:xfrm>
            <a:off x="3354601" y="1958479"/>
            <a:ext cx="2521482" cy="1951930"/>
          </a:xfrm>
          <a:prstGeom prst="roundRect">
            <a:avLst>
              <a:gd name="adj" fmla="val 3876"/>
            </a:avLst>
          </a:prstGeom>
          <a:solidFill>
            <a:srgbClr val="E2E3E9"/>
          </a:solidFill>
          <a:ln w="6350">
            <a:solidFill>
              <a:srgbClr val="C8C9CF"/>
            </a:solidFill>
            <a:prstDash val="solid"/>
          </a:ln>
        </p:spPr>
        <p:txBody>
          <a:bodyPr/>
          <a:lstStyle/>
          <a:p>
            <a:endParaRPr lang="en-US"/>
          </a:p>
        </p:txBody>
      </p:sp>
      <p:sp>
        <p:nvSpPr>
          <p:cNvPr id="8" name="Text 6"/>
          <p:cNvSpPr/>
          <p:nvPr/>
        </p:nvSpPr>
        <p:spPr>
          <a:xfrm>
            <a:off x="3541029" y="2144911"/>
            <a:ext cx="2148627"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AI Provider Failure</a:t>
            </a:r>
            <a:endParaRPr lang="en-US" sz="1750" dirty="0"/>
          </a:p>
        </p:txBody>
      </p:sp>
      <p:sp>
        <p:nvSpPr>
          <p:cNvPr id="9" name="Text 7"/>
          <p:cNvSpPr/>
          <p:nvPr/>
        </p:nvSpPr>
        <p:spPr>
          <a:xfrm>
            <a:off x="3541029" y="2598043"/>
            <a:ext cx="2148627"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Azure OpenAI unavailable or timeout → routed to Human Review</a:t>
            </a:r>
            <a:endParaRPr lang="en-US" sz="1400" dirty="0"/>
          </a:p>
        </p:txBody>
      </p:sp>
      <p:sp>
        <p:nvSpPr>
          <p:cNvPr id="10" name="Shape 8"/>
          <p:cNvSpPr/>
          <p:nvPr/>
        </p:nvSpPr>
        <p:spPr>
          <a:xfrm>
            <a:off x="661475" y="4082058"/>
            <a:ext cx="5214609" cy="1388963"/>
          </a:xfrm>
          <a:prstGeom prst="roundRect">
            <a:avLst>
              <a:gd name="adj" fmla="val 5448"/>
            </a:avLst>
          </a:prstGeom>
          <a:solidFill>
            <a:srgbClr val="E2E3E9"/>
          </a:solidFill>
          <a:ln w="6350">
            <a:solidFill>
              <a:srgbClr val="C8C9CF"/>
            </a:solidFill>
            <a:prstDash val="solid"/>
          </a:ln>
        </p:spPr>
        <p:txBody>
          <a:bodyPr/>
          <a:lstStyle/>
          <a:p>
            <a:endParaRPr lang="en-US"/>
          </a:p>
        </p:txBody>
      </p:sp>
      <p:sp>
        <p:nvSpPr>
          <p:cNvPr id="11" name="Text 9"/>
          <p:cNvSpPr/>
          <p:nvPr/>
        </p:nvSpPr>
        <p:spPr>
          <a:xfrm>
            <a:off x="847902" y="4268490"/>
            <a:ext cx="4841754" cy="281484"/>
          </a:xfrm>
          <a:prstGeom prst="rect">
            <a:avLst/>
          </a:prstGeom>
          <a:noFill/>
          <a:ln/>
        </p:spPr>
        <p:txBody>
          <a:bodyPr wrap="none" lIns="0" tIns="0" rIns="0" bIns="0" rtlCol="0" anchor="t"/>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Evidence Lookup Failure</a:t>
            </a:r>
            <a:endParaRPr lang="en-US" sz="1750" dirty="0"/>
          </a:p>
        </p:txBody>
      </p:sp>
      <p:sp>
        <p:nvSpPr>
          <p:cNvPr id="12" name="Text 10"/>
          <p:cNvSpPr/>
          <p:nvPr/>
        </p:nvSpPr>
        <p:spPr>
          <a:xfrm>
            <a:off x="847902" y="4721622"/>
            <a:ext cx="4841754"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Healthcare evidence retrieval fails → routed to Human Review</a:t>
            </a:r>
            <a:endParaRPr lang="en-US" sz="1400" dirty="0"/>
          </a:p>
        </p:txBody>
      </p:sp>
      <p:sp>
        <p:nvSpPr>
          <p:cNvPr id="13" name="Text 11"/>
          <p:cNvSpPr/>
          <p:nvPr/>
        </p:nvSpPr>
        <p:spPr>
          <a:xfrm>
            <a:off x="6321961" y="1492815"/>
            <a:ext cx="5214609" cy="281484"/>
          </a:xfrm>
          <a:prstGeom prst="rect">
            <a:avLst/>
          </a:prstGeom>
          <a:noFill/>
          <a:ln/>
        </p:spPr>
        <p:txBody>
          <a:bodyPr wrap="none" lIns="0" tIns="0" rIns="0" bIns="0" rtlCol="0" anchor="t"/>
          <a:lstStyle/>
          <a:p>
            <a:pPr marL="0" indent="0" algn="l">
              <a:lnSpc>
                <a:spcPct val="104000"/>
              </a:lnSpc>
              <a:buNone/>
            </a:pPr>
            <a:r>
              <a:rPr lang="en-US" sz="1750" dirty="0">
                <a:solidFill>
                  <a:srgbClr val="505468"/>
                </a:solidFill>
                <a:latin typeface="Instrument Sans SemiBold" pitchFamily="34" charset="0"/>
                <a:ea typeface="Instrument Sans SemiBold" pitchFamily="34" charset="-122"/>
                <a:cs typeface="Instrument Sans SemiBold" pitchFamily="34" charset="-120"/>
              </a:rPr>
              <a:t>Designed — Not Yet Implemented</a:t>
            </a:r>
            <a:endParaRPr lang="en-US" sz="1750" dirty="0"/>
          </a:p>
        </p:txBody>
      </p:sp>
      <p:sp>
        <p:nvSpPr>
          <p:cNvPr id="14" name="Shape 12"/>
          <p:cNvSpPr/>
          <p:nvPr/>
        </p:nvSpPr>
        <p:spPr>
          <a:xfrm>
            <a:off x="6321961" y="1958479"/>
            <a:ext cx="2521482" cy="2552998"/>
          </a:xfrm>
          <a:prstGeom prst="roundRect">
            <a:avLst>
              <a:gd name="adj" fmla="val 3001"/>
            </a:avLst>
          </a:prstGeom>
          <a:solidFill>
            <a:srgbClr val="FFFFFF">
              <a:alpha val="95000"/>
            </a:srgbClr>
          </a:solidFill>
          <a:ln w="25399">
            <a:solidFill>
              <a:srgbClr val="C8C9CF"/>
            </a:solidFill>
            <a:prstDash val="solid"/>
          </a:ln>
        </p:spPr>
        <p:txBody>
          <a:bodyPr/>
          <a:lstStyle/>
          <a:p>
            <a:endParaRPr lang="en-US"/>
          </a:p>
        </p:txBody>
      </p:sp>
      <p:sp>
        <p:nvSpPr>
          <p:cNvPr id="15" name="Text 13"/>
          <p:cNvSpPr/>
          <p:nvPr/>
        </p:nvSpPr>
        <p:spPr>
          <a:xfrm>
            <a:off x="6527438" y="2163961"/>
            <a:ext cx="2110528" cy="562967"/>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Security Policy Enforcement</a:t>
            </a:r>
            <a:endParaRPr lang="en-US" sz="1750" dirty="0"/>
          </a:p>
        </p:txBody>
      </p:sp>
      <p:sp>
        <p:nvSpPr>
          <p:cNvPr id="16" name="Text 14"/>
          <p:cNvSpPr/>
          <p:nvPr/>
        </p:nvSpPr>
        <p:spPr>
          <a:xfrm>
            <a:off x="6527438" y="2898577"/>
            <a:ext cx="2110528" cy="140741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Broader violation detection and automatic escalation paths are designed but not yet active in Phase 1.</a:t>
            </a:r>
            <a:endParaRPr lang="en-US" sz="1400" dirty="0"/>
          </a:p>
        </p:txBody>
      </p:sp>
      <p:sp>
        <p:nvSpPr>
          <p:cNvPr id="17" name="Shape 15"/>
          <p:cNvSpPr/>
          <p:nvPr/>
        </p:nvSpPr>
        <p:spPr>
          <a:xfrm>
            <a:off x="9015088" y="1958479"/>
            <a:ext cx="2521482" cy="2552998"/>
          </a:xfrm>
          <a:prstGeom prst="roundRect">
            <a:avLst>
              <a:gd name="adj" fmla="val 3001"/>
            </a:avLst>
          </a:prstGeom>
          <a:solidFill>
            <a:srgbClr val="FFFFFF">
              <a:alpha val="95000"/>
            </a:srgbClr>
          </a:solidFill>
          <a:ln w="25399">
            <a:solidFill>
              <a:srgbClr val="C8C9CF"/>
            </a:solidFill>
            <a:prstDash val="solid"/>
          </a:ln>
        </p:spPr>
        <p:txBody>
          <a:bodyPr/>
          <a:lstStyle/>
          <a:p>
            <a:endParaRPr lang="en-US"/>
          </a:p>
        </p:txBody>
      </p:sp>
      <p:sp>
        <p:nvSpPr>
          <p:cNvPr id="18" name="Text 16"/>
          <p:cNvSpPr/>
          <p:nvPr/>
        </p:nvSpPr>
        <p:spPr>
          <a:xfrm>
            <a:off x="9220565" y="2163961"/>
            <a:ext cx="2110528" cy="562967"/>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5B5F71"/>
                </a:solidFill>
                <a:latin typeface="Instrument Sans SemiBold" pitchFamily="34" charset="0"/>
                <a:ea typeface="Instrument Sans SemiBold" pitchFamily="34" charset="-122"/>
                <a:cs typeface="Instrument Sans SemiBold" pitchFamily="34" charset="-120"/>
              </a:rPr>
              <a:t>Automatic Retry Controls</a:t>
            </a:r>
            <a:endParaRPr lang="en-US" sz="1750" dirty="0"/>
          </a:p>
        </p:txBody>
      </p:sp>
      <p:sp>
        <p:nvSpPr>
          <p:cNvPr id="19" name="Text 17"/>
          <p:cNvSpPr/>
          <p:nvPr/>
        </p:nvSpPr>
        <p:spPr>
          <a:xfrm>
            <a:off x="9220565" y="2898577"/>
            <a:ext cx="2110528" cy="112593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5B5F71"/>
                </a:solidFill>
                <a:latin typeface="Instrument Sans Medium" pitchFamily="34" charset="0"/>
                <a:ea typeface="Instrument Sans Medium" pitchFamily="34" charset="-122"/>
                <a:cs typeface="Instrument Sans Medium" pitchFamily="34" charset="-120"/>
              </a:rPr>
              <a:t>Configured retry logic for transient failures is planned for a future phase.</a:t>
            </a:r>
            <a:endParaRPr lang="en-US" sz="1400" dirty="0"/>
          </a:p>
        </p:txBody>
      </p:sp>
      <p:sp>
        <p:nvSpPr>
          <p:cNvPr id="20" name="Shape 18"/>
          <p:cNvSpPr/>
          <p:nvPr/>
        </p:nvSpPr>
        <p:spPr>
          <a:xfrm>
            <a:off x="6321961" y="4704655"/>
            <a:ext cx="5214609" cy="1243310"/>
          </a:xfrm>
          <a:prstGeom prst="roundRect">
            <a:avLst>
              <a:gd name="adj" fmla="val 6086"/>
            </a:avLst>
          </a:prstGeom>
          <a:solidFill>
            <a:srgbClr val="E2E3E9"/>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6502039" y="4966791"/>
            <a:ext cx="225122" cy="180082"/>
          </a:xfrm>
          <a:prstGeom prst="rect">
            <a:avLst/>
          </a:prstGeom>
        </p:spPr>
      </p:pic>
      <p:sp>
        <p:nvSpPr>
          <p:cNvPr id="22" name="Text 19"/>
          <p:cNvSpPr/>
          <p:nvPr/>
        </p:nvSpPr>
        <p:spPr>
          <a:xfrm>
            <a:off x="6907238" y="4904085"/>
            <a:ext cx="4449254" cy="844451"/>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000000"/>
                </a:solidFill>
                <a:latin typeface="Instrument Sans Medium" pitchFamily="34" charset="0"/>
                <a:ea typeface="Instrument Sans Medium" pitchFamily="34" charset="-122"/>
                <a:cs typeface="Instrument Sans Medium" pitchFamily="34" charset="-120"/>
              </a:rPr>
              <a:t>Not every failure path routes to Human Review. Some failures may terminate the run or trigger a different escalation path depending on the error type.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057868"/>
            <a:ext cx="10868745" cy="354409"/>
          </a:xfrm>
          <a:prstGeom prst="rect">
            <a:avLst/>
          </a:prstGeom>
          <a:noFill/>
          <a:ln/>
        </p:spPr>
        <p:txBody>
          <a:bodyPr wrap="none" lIns="0" tIns="0" rIns="0" bIns="0" rtlCol="0" anchor="t"/>
          <a:lstStyle/>
          <a:p>
            <a:pPr marL="0" indent="0" algn="l">
              <a:lnSpc>
                <a:spcPct val="104000"/>
              </a:lnSpc>
              <a:buNone/>
            </a:pPr>
            <a:r>
              <a:rPr lang="en-US" sz="2200" dirty="0">
                <a:solidFill>
                  <a:srgbClr val="505468"/>
                </a:solidFill>
                <a:latin typeface="Instrument Sans SemiBold" pitchFamily="34" charset="0"/>
                <a:ea typeface="Instrument Sans SemiBold" pitchFamily="34" charset="-122"/>
                <a:cs typeface="Instrument Sans SemiBold" pitchFamily="34" charset="-120"/>
              </a:rPr>
              <a:t>Appendix A4: Human-Led, AI-Assisted Collaborative Engineering</a:t>
            </a:r>
            <a:endParaRPr lang="en-US" sz="2200" dirty="0"/>
          </a:p>
        </p:txBody>
      </p:sp>
      <p:pic>
        <p:nvPicPr>
          <p:cNvPr id="3" name="Image 0" descr="preencoded.png"/>
          <p:cNvPicPr>
            <a:picLocks noChangeAspect="1"/>
          </p:cNvPicPr>
          <p:nvPr/>
        </p:nvPicPr>
        <p:blipFill>
          <a:blip r:embed="rId3"/>
          <a:stretch>
            <a:fillRect/>
          </a:stretch>
        </p:blipFill>
        <p:spPr>
          <a:xfrm>
            <a:off x="661475" y="1895376"/>
            <a:ext cx="409466" cy="409476"/>
          </a:xfrm>
          <a:prstGeom prst="rect">
            <a:avLst/>
          </a:prstGeom>
        </p:spPr>
      </p:pic>
      <p:sp>
        <p:nvSpPr>
          <p:cNvPr id="4" name="Text 1"/>
          <p:cNvSpPr/>
          <p:nvPr/>
        </p:nvSpPr>
        <p:spPr>
          <a:xfrm>
            <a:off x="661475" y="2529365"/>
            <a:ext cx="3315014"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5468"/>
                </a:solidFill>
                <a:latin typeface="Instrument Sans SemiBold" pitchFamily="34" charset="0"/>
                <a:ea typeface="Instrument Sans SemiBold" pitchFamily="34" charset="-122"/>
                <a:cs typeface="Instrument Sans SemiBold" pitchFamily="34" charset="-120"/>
              </a:rPr>
              <a:t>K. Kashiwagi — Project Owner &amp; Solution Designer</a:t>
            </a:r>
            <a:endParaRPr lang="en-US" sz="1850" dirty="0"/>
          </a:p>
        </p:txBody>
      </p:sp>
      <p:sp>
        <p:nvSpPr>
          <p:cNvPr id="5" name="Text 2"/>
          <p:cNvSpPr/>
          <p:nvPr/>
        </p:nvSpPr>
        <p:spPr>
          <a:xfrm>
            <a:off x="661475" y="3297039"/>
            <a:ext cx="331501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Architecture direction, core principles, requirements, final decisions, and validation oversight.</a:t>
            </a:r>
            <a:endParaRPr lang="en-US" sz="1450" dirty="0"/>
          </a:p>
        </p:txBody>
      </p:sp>
      <p:pic>
        <p:nvPicPr>
          <p:cNvPr id="6" name="Image 1" descr="preencoded.png"/>
          <p:cNvPicPr>
            <a:picLocks noChangeAspect="1"/>
          </p:cNvPicPr>
          <p:nvPr/>
        </p:nvPicPr>
        <p:blipFill>
          <a:blip r:embed="rId4"/>
          <a:stretch>
            <a:fillRect/>
          </a:stretch>
        </p:blipFill>
        <p:spPr>
          <a:xfrm>
            <a:off x="4443996" y="1895376"/>
            <a:ext cx="378014" cy="378023"/>
          </a:xfrm>
          <a:prstGeom prst="rect">
            <a:avLst/>
          </a:prstGeom>
        </p:spPr>
      </p:pic>
      <p:sp>
        <p:nvSpPr>
          <p:cNvPr id="7" name="Text 3"/>
          <p:cNvSpPr/>
          <p:nvPr/>
        </p:nvSpPr>
        <p:spPr>
          <a:xfrm>
            <a:off x="4443996" y="2497913"/>
            <a:ext cx="3315014"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5468"/>
                </a:solidFill>
                <a:latin typeface="Instrument Sans SemiBold" pitchFamily="34" charset="0"/>
                <a:ea typeface="Instrument Sans SemiBold" pitchFamily="34" charset="-122"/>
                <a:cs typeface="Instrument Sans SemiBold" pitchFamily="34" charset="-120"/>
              </a:rPr>
              <a:t>ChatGPT — Design &amp; Review Partner</a:t>
            </a:r>
            <a:endParaRPr lang="en-US" sz="1850" dirty="0"/>
          </a:p>
        </p:txBody>
      </p:sp>
      <p:sp>
        <p:nvSpPr>
          <p:cNvPr id="8" name="Text 4"/>
          <p:cNvSpPr/>
          <p:nvPr/>
        </p:nvSpPr>
        <p:spPr>
          <a:xfrm>
            <a:off x="4443996" y="3265587"/>
            <a:ext cx="331501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Collaborative solution design, requirements, planning, technical analysis, and quality reviews.</a:t>
            </a:r>
            <a:endParaRPr lang="en-US" sz="1450" dirty="0"/>
          </a:p>
        </p:txBody>
      </p:sp>
      <p:pic>
        <p:nvPicPr>
          <p:cNvPr id="9" name="Image 2" descr="preencoded.png"/>
          <p:cNvPicPr>
            <a:picLocks noChangeAspect="1"/>
          </p:cNvPicPr>
          <p:nvPr/>
        </p:nvPicPr>
        <p:blipFill>
          <a:blip r:embed="rId5"/>
          <a:stretch>
            <a:fillRect/>
          </a:stretch>
        </p:blipFill>
        <p:spPr>
          <a:xfrm>
            <a:off x="8226517" y="1895376"/>
            <a:ext cx="315012" cy="315020"/>
          </a:xfrm>
          <a:prstGeom prst="rect">
            <a:avLst/>
          </a:prstGeom>
        </p:spPr>
      </p:pic>
      <p:sp>
        <p:nvSpPr>
          <p:cNvPr id="10" name="Text 5"/>
          <p:cNvSpPr/>
          <p:nvPr/>
        </p:nvSpPr>
        <p:spPr>
          <a:xfrm>
            <a:off x="8226517" y="2434909"/>
            <a:ext cx="3315014" cy="590550"/>
          </a:xfrm>
          <a:prstGeom prst="rect">
            <a:avLst/>
          </a:prstGeom>
          <a:noFill/>
          <a:ln/>
        </p:spPr>
        <p:txBody>
          <a:bodyPr wrap="square" lIns="0" tIns="0" rIns="0" bIns="0" rtlCol="0" anchor="t">
            <a:normAutofit/>
          </a:bodyPr>
          <a:lstStyle/>
          <a:p>
            <a:pPr marL="0" indent="0" algn="l">
              <a:lnSpc>
                <a:spcPct val="104000"/>
              </a:lnSpc>
              <a:buNone/>
            </a:pPr>
            <a:r>
              <a:rPr lang="en-US" sz="1850" dirty="0">
                <a:solidFill>
                  <a:srgbClr val="505468"/>
                </a:solidFill>
                <a:latin typeface="Instrument Sans SemiBold" pitchFamily="34" charset="0"/>
                <a:ea typeface="Instrument Sans SemiBold" pitchFamily="34" charset="-122"/>
                <a:cs typeface="Instrument Sans SemiBold" pitchFamily="34" charset="-120"/>
              </a:rPr>
              <a:t>Claude Code — Implementation Partner</a:t>
            </a:r>
            <a:endParaRPr lang="en-US" sz="1850" dirty="0"/>
          </a:p>
        </p:txBody>
      </p:sp>
      <p:sp>
        <p:nvSpPr>
          <p:cNvPr id="11" name="Text 6"/>
          <p:cNvSpPr/>
          <p:nvPr/>
        </p:nvSpPr>
        <p:spPr>
          <a:xfrm>
            <a:off x="8226517" y="3202583"/>
            <a:ext cx="3315014"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Scoped development, automated tests, debugging, documentation, and approved Git operations.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2315" y="4592836"/>
            <a:ext cx="283461" cy="283468"/>
          </a:xfrm>
          <a:prstGeom prst="rect">
            <a:avLst/>
          </a:prstGeom>
        </p:spPr>
      </p:pic>
      <p:sp>
        <p:nvSpPr>
          <p:cNvPr id="13" name="Text 7"/>
          <p:cNvSpPr/>
          <p:nvPr/>
        </p:nvSpPr>
        <p:spPr>
          <a:xfrm>
            <a:off x="1275723" y="4586982"/>
            <a:ext cx="10254497" cy="295275"/>
          </a:xfrm>
          <a:prstGeom prst="rect">
            <a:avLst/>
          </a:prstGeom>
          <a:noFill/>
          <a:ln/>
        </p:spPr>
        <p:txBody>
          <a:bodyPr wrap="none" lIns="0" tIns="0" rIns="0" bIns="0" rtlCol="0" anchor="t"/>
          <a:lstStyle/>
          <a:p>
            <a:pPr marL="0" indent="0" algn="l">
              <a:lnSpc>
                <a:spcPct val="104000"/>
              </a:lnSpc>
              <a:buNone/>
            </a:pPr>
            <a:r>
              <a:rPr lang="en-US" sz="1850" dirty="0">
                <a:solidFill>
                  <a:srgbClr val="5B5F71"/>
                </a:solidFill>
                <a:latin typeface="Instrument Sans SemiBold" pitchFamily="34" charset="0"/>
                <a:ea typeface="Instrument Sans SemiBold" pitchFamily="34" charset="-122"/>
                <a:cs typeface="Instrument Sans SemiBold" pitchFamily="34" charset="-120"/>
              </a:rPr>
              <a:t>Collaborative Development</a:t>
            </a:r>
            <a:endParaRPr lang="en-US" sz="1850" dirty="0"/>
          </a:p>
        </p:txBody>
      </p:sp>
      <p:sp>
        <p:nvSpPr>
          <p:cNvPr id="14" name="Text 8"/>
          <p:cNvSpPr/>
          <p:nvPr/>
        </p:nvSpPr>
        <p:spPr>
          <a:xfrm>
            <a:off x="1275723" y="4995664"/>
            <a:ext cx="10254497" cy="302419"/>
          </a:xfrm>
          <a:prstGeom prst="rect">
            <a:avLst/>
          </a:prstGeom>
          <a:noFill/>
          <a:ln/>
        </p:spPr>
        <p:txBody>
          <a:bodyPr wrap="none" lIns="0" tIns="0" rIns="0" bIns="0" rtlCol="0" anchor="t"/>
          <a:lstStyle/>
          <a:p>
            <a:pPr marL="0" indent="0" algn="l">
              <a:lnSpc>
                <a:spcPct val="133000"/>
              </a:lnSpc>
              <a:buNone/>
            </a:pPr>
            <a:r>
              <a:rPr lang="en-US" sz="1450" dirty="0">
                <a:solidFill>
                  <a:srgbClr val="5B5F71"/>
                </a:solidFill>
                <a:latin typeface="Instrument Sans Medium" pitchFamily="34" charset="0"/>
                <a:ea typeface="Instrument Sans Medium" pitchFamily="34" charset="-122"/>
                <a:cs typeface="Instrument Sans Medium" pitchFamily="34" charset="-120"/>
              </a:rPr>
              <a:t>K coordinated iterative design, implementation, testing, and review with ChatGPT and Claude Code.</a:t>
            </a:r>
            <a:endParaRPr lang="en-US" sz="1450" dirty="0"/>
          </a:p>
        </p:txBody>
      </p:sp>
      <p:sp>
        <p:nvSpPr>
          <p:cNvPr id="15" name="Text 9"/>
          <p:cNvSpPr/>
          <p:nvPr/>
        </p:nvSpPr>
        <p:spPr>
          <a:xfrm>
            <a:off x="356682" y="5510709"/>
            <a:ext cx="11478330" cy="302419"/>
          </a:xfrm>
          <a:prstGeom prst="rect">
            <a:avLst/>
          </a:prstGeom>
          <a:noFill/>
          <a:ln/>
        </p:spPr>
        <p:txBody>
          <a:bodyPr wrap="none" lIns="0" tIns="0" rIns="0" bIns="0" rtlCol="0" anchor="t"/>
          <a:lstStyle/>
          <a:p>
            <a:pPr marL="0" indent="0" algn="ctr">
              <a:lnSpc>
                <a:spcPct val="133000"/>
              </a:lnSpc>
              <a:buNone/>
            </a:pPr>
            <a:r>
              <a:rPr lang="en-US" sz="1450" dirty="0">
                <a:solidFill>
                  <a:srgbClr val="808080"/>
                </a:solidFill>
                <a:latin typeface="Instrument Sans Medium" pitchFamily="34" charset="0"/>
                <a:ea typeface="Instrument Sans Medium" pitchFamily="34" charset="-122"/>
                <a:cs typeface="Instrument Sans Medium" pitchFamily="34" charset="-120"/>
              </a:rPr>
              <a:t>Human-led decisions · AI-assisted execution · Evidence-based validation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3117</Words>
  <Application>Microsoft Office PowerPoint</Application>
  <PresentationFormat>Widescreen</PresentationFormat>
  <Paragraphs>185</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Consolas</vt:lpstr>
      <vt:lpstr>Instrument Sans SemiBold</vt:lpstr>
      <vt:lpstr>Instrument Sans Medium</vt:lpstr>
      <vt:lpstr>Instrument Sans Bold</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Kaori Kobayashi</dc:creator>
  <cp:lastModifiedBy>Kaori Kobayashi</cp:lastModifiedBy>
  <cp:revision>2</cp:revision>
  <dcterms:created xsi:type="dcterms:W3CDTF">2026-10-16T02:40:29Z</dcterms:created>
  <dcterms:modified xsi:type="dcterms:W3CDTF">2026-10-16T03:03:38Z</dcterms:modified>
</cp:coreProperties>
</file>